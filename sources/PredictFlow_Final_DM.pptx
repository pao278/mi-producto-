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4" r:id="rId28"/>
    <p:sldId id="285" r:id="rId29"/>
  </p:sldIdLst>
  <p:sldSz cx="12192000" cy="6858000"/>
  <p:notesSz cx="6858000" cy="9144000"/>
  <p:embeddedFontLst>
    <p:embeddedFont>
      <p:font typeface="Overlock" panose="020B0604020202020204" charset="0"/>
      <p:regular r:id="rId31"/>
      <p:bold r:id="rId32"/>
      <p:italic r:id="rId33"/>
      <p:boldItalic r:id="rId34"/>
    </p:embeddedFont>
    <p:embeddedFont>
      <p:font typeface="Play" panose="020B0604020202020204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juKthvuTc6kKIn1qq0fyBmG3PJ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MENSAJE PRINCIPAL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El crecimiento puede destruir margen si las devoluciones y reclamos crecen de forma silenciosa.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TEXTO EN PANTALLA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Historia breve, consecuencias y dos cifras citadas en las presentaciones.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RECURSO VISUAL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Waterfall de fuga de rentabilidad y cifras destacadas.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NOTAS DEL PRESENTADOR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Aclarar que 17,6% y 65% aparecen en la presentación de referencia, pero la fuente primaria no está visible y debe verificarse antes de uso externo.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PASO DEL INCEPTION DECK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Why are we here?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FUENTE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Presentación 6, diapositivas 2–4 y 9; Presentación 5, diapositivas 1–4.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f1a5f43252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3" name="Google Shape;593;g3f1a5f43252_3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MENSAJE PRINCIPAL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PredictiFlow propone intervenir antes del despacho, cuando aún es posible evitar costos de logística inversa.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TEXTO EN PANTALLA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Nombre, propuesta de valor, beneficio principal y punto de intervención.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RECURSO VISUAL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Timeline de la compra con el punto de intervención antes del despacho.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NOTAS DEL PRESENTADOR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Abrir con una idea simple: el producto no gestiona devoluciones después del problema; busca evitar las prevenibles antes de que el pedido salga del almacén.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PASO DEL INCEPTION DECK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Product vision / portada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FUENTE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Presentación 7, diapositivas 1–3; Presentación 6, diapositivas 1, 6 y 9.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3" name="Google Shape;613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MENSAJE PRINCIPAL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El crecimiento puede destruir margen si las devoluciones y reclamos crecen de forma silenciosa.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TEXTO EN PANTALLA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Historia breve, consecuencias y dos cifras citadas en las presentaciones.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RECURSO VISUAL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Waterfall de fuga de rentabilidad y cifras destacadas.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NOTAS DEL PRESENTADOR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Aclarar que 17,6% y 65% aparecen en la presentación de referencia, pero la fuente primaria no está visible y debe verificarse antes de uso externo.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PASO DEL INCEPTION DECK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Why are we here?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FUENTE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Presentación 6, diapositivas 2–4 y 9; Presentación 5, diapositivas 1–4.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4" name="Google Shape;624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MENSAJE PRINCIPAL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El crecimiento puede destruir margen si las devoluciones y reclamos crecen de forma silenciosa.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TEXTO EN PANTALLA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Historia breve, consecuencias y dos cifras citadas en las presentaciones.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RECURSO VISUAL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Waterfall de fuga de rentabilidad y cifras destacadas.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NOTAS DEL PRESENTADOR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Aclarar que 17,6% y 65% aparecen en la presentación de referencia, pero la fuente primaria no está visible y debe verificarse antes de uso externo.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PASO DEL INCEPTION DECK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Why are we here?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FUENTE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Presentación 6, diapositivas 2–4 y 9; Presentación 5, diapositivas 1–4.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5" name="Google Shape;635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MENSAJE PRINCIPAL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El crecimiento puede destruir margen si las devoluciones y reclamos crecen de forma silenciosa.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TEXTO EN PANTALLA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Historia breve, consecuencias y dos cifras citadas en las presentaciones.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RECURSO VISUAL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Waterfall de fuga de rentabilidad y cifras destacadas.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NOTAS DEL PRESENTADOR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Aclarar que 17,6% y 65% aparecen en la presentación de referencia, pero la fuente primaria no está visible y debe verificarse antes de uso externo.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PASO DEL INCEPTION DECK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Why are we here?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FUENTE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Presentación 6, diapositivas 2–4 y 9; Presentación 5, diapositivas 1–4.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bg>
      <p:bgPr>
        <a:solidFill>
          <a:srgbClr val="F7F1E8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31"/>
          <p:cNvCxnSpPr/>
          <p:nvPr/>
        </p:nvCxnSpPr>
        <p:spPr>
          <a:xfrm>
            <a:off x="502919" y="6510239"/>
            <a:ext cx="11173682" cy="361"/>
          </a:xfrm>
          <a:prstGeom prst="straightConnector1">
            <a:avLst/>
          </a:prstGeom>
          <a:noFill/>
          <a:ln w="10150" cap="flat" cmpd="sng">
            <a:solidFill>
              <a:srgbClr val="D8CD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31"/>
          <p:cNvSpPr txBox="1">
            <a:spLocks noGrp="1"/>
          </p:cNvSpPr>
          <p:nvPr>
            <p:ph type="title"/>
          </p:nvPr>
        </p:nvSpPr>
        <p:spPr>
          <a:xfrm>
            <a:off x="609479" y="273599"/>
            <a:ext cx="10972442" cy="114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 sz="4400"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31"/>
          <p:cNvSpPr txBox="1">
            <a:spLocks noGrp="1"/>
          </p:cNvSpPr>
          <p:nvPr>
            <p:ph type="body" idx="1"/>
          </p:nvPr>
        </p:nvSpPr>
        <p:spPr>
          <a:xfrm>
            <a:off x="609479" y="1604519"/>
            <a:ext cx="10972442" cy="397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1"/>
          <p:cNvSpPr txBox="1">
            <a:spLocks noGrp="1"/>
          </p:cNvSpPr>
          <p:nvPr>
            <p:ph type="sldNum" idx="12"/>
          </p:nvPr>
        </p:nvSpPr>
        <p:spPr>
          <a:xfrm>
            <a:off x="11442530" y="6565320"/>
            <a:ext cx="215711" cy="20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75" tIns="44975" rIns="44975" bIns="44975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7B6D"/>
              </a:buClr>
              <a:buSzPts val="800"/>
              <a:buFont typeface="Arial"/>
              <a:buNone/>
              <a:defRPr sz="800">
                <a:solidFill>
                  <a:srgbClr val="897B6D"/>
                </a:solidFill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7B6D"/>
              </a:buClr>
              <a:buSzPts val="800"/>
              <a:buFont typeface="Arial"/>
              <a:buNone/>
              <a:defRPr sz="800">
                <a:solidFill>
                  <a:srgbClr val="897B6D"/>
                </a:solidFill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7B6D"/>
              </a:buClr>
              <a:buSzPts val="800"/>
              <a:buFont typeface="Arial"/>
              <a:buNone/>
              <a:defRPr sz="800">
                <a:solidFill>
                  <a:srgbClr val="897B6D"/>
                </a:solidFill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7B6D"/>
              </a:buClr>
              <a:buSzPts val="800"/>
              <a:buFont typeface="Arial"/>
              <a:buNone/>
              <a:defRPr sz="800">
                <a:solidFill>
                  <a:srgbClr val="897B6D"/>
                </a:solidFill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7B6D"/>
              </a:buClr>
              <a:buSzPts val="800"/>
              <a:buFont typeface="Arial"/>
              <a:buNone/>
              <a:defRPr sz="800">
                <a:solidFill>
                  <a:srgbClr val="897B6D"/>
                </a:solidFill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7B6D"/>
              </a:buClr>
              <a:buSzPts val="800"/>
              <a:buFont typeface="Arial"/>
              <a:buNone/>
              <a:defRPr sz="800">
                <a:solidFill>
                  <a:srgbClr val="897B6D"/>
                </a:solidFill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7B6D"/>
              </a:buClr>
              <a:buSzPts val="800"/>
              <a:buFont typeface="Arial"/>
              <a:buNone/>
              <a:defRPr sz="800">
                <a:solidFill>
                  <a:srgbClr val="897B6D"/>
                </a:solidFill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7B6D"/>
              </a:buClr>
              <a:buSzPts val="800"/>
              <a:buFont typeface="Arial"/>
              <a:buNone/>
              <a:defRPr sz="800">
                <a:solidFill>
                  <a:srgbClr val="897B6D"/>
                </a:solidFill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7B6D"/>
              </a:buClr>
              <a:buSzPts val="800"/>
              <a:buFont typeface="Arial"/>
              <a:buNone/>
              <a:defRPr sz="800">
                <a:solidFill>
                  <a:srgbClr val="897B6D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2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0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0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 txBox="1"/>
          <p:nvPr/>
        </p:nvSpPr>
        <p:spPr>
          <a:xfrm>
            <a:off x="566927" y="457707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PROBLEMA / 01 · CONTEXTO</a:t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6400800" y="6511036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VENDER MÁS ≠ GANAR MÁS</a:t>
            </a:r>
            <a:endParaRPr/>
          </a:p>
        </p:txBody>
      </p:sp>
      <p:sp>
        <p:nvSpPr>
          <p:cNvPr id="40" name="Google Shape;40;p2"/>
          <p:cNvSpPr txBox="1"/>
          <p:nvPr/>
        </p:nvSpPr>
        <p:spPr>
          <a:xfrm>
            <a:off x="566927" y="841247"/>
            <a:ext cx="5852162" cy="965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151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3300"/>
              <a:buFont typeface="Overlock"/>
              <a:buNone/>
            </a:pPr>
            <a:r>
              <a:rPr lang="en-US" sz="3300" b="1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Vender más </a:t>
            </a:r>
            <a:r>
              <a:rPr lang="en-US" sz="3300" b="1" i="0" u="none" strike="noStrike" cap="none">
                <a:solidFill>
                  <a:srgbClr val="F26302"/>
                </a:solidFill>
                <a:latin typeface="Overlock"/>
                <a:ea typeface="Overlock"/>
                <a:cs typeface="Overlock"/>
                <a:sym typeface="Overlock"/>
              </a:rPr>
              <a:t>no siempre</a:t>
            </a:r>
            <a:r>
              <a:rPr lang="en-US" sz="3300" b="1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 significa </a:t>
            </a:r>
            <a:r>
              <a:rPr lang="en-US" sz="3300" b="1" i="0" u="none" strike="noStrike" cap="none">
                <a:solidFill>
                  <a:srgbClr val="F26302"/>
                </a:solidFill>
                <a:latin typeface="Overlock"/>
                <a:ea typeface="Overlock"/>
                <a:cs typeface="Overlock"/>
                <a:sym typeface="Overlock"/>
              </a:rPr>
              <a:t>ganar más</a:t>
            </a:r>
            <a:endParaRPr/>
          </a:p>
        </p:txBody>
      </p:sp>
      <p:sp>
        <p:nvSpPr>
          <p:cNvPr id="41" name="Google Shape;41;p2"/>
          <p:cNvSpPr txBox="1"/>
          <p:nvPr/>
        </p:nvSpPr>
        <p:spPr>
          <a:xfrm>
            <a:off x="566927" y="2468879"/>
            <a:ext cx="5577842" cy="54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El crecimiento puede ocultar una fuga de margen que se reparte entre logística, atención e inventario.</a:t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566927" y="3703320"/>
            <a:ext cx="1280162" cy="1325881"/>
          </a:xfrm>
          <a:prstGeom prst="roundRect">
            <a:avLst>
              <a:gd name="adj" fmla="val 5714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49808" y="3904488"/>
            <a:ext cx="457201" cy="457201"/>
          </a:xfrm>
          <a:prstGeom prst="ellipse">
            <a:avLst/>
          </a:prstGeom>
          <a:solidFill>
            <a:srgbClr val="15304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749808" y="4031488"/>
            <a:ext cx="457201" cy="203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verlock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rPr>
              <a:t>01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676656" y="4480559"/>
            <a:ext cx="1060704" cy="161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Devoluciones</a:t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1984248" y="3703320"/>
            <a:ext cx="1280161" cy="1325881"/>
          </a:xfrm>
          <a:prstGeom prst="roundRect">
            <a:avLst>
              <a:gd name="adj" fmla="val 5714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167127" y="3904488"/>
            <a:ext cx="457201" cy="457201"/>
          </a:xfrm>
          <a:prstGeom prst="ellipse">
            <a:avLst/>
          </a:prstGeom>
          <a:solidFill>
            <a:srgbClr val="15304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2167127" y="4031488"/>
            <a:ext cx="457201" cy="203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verlock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rPr>
              <a:t>02</a:t>
            </a:r>
            <a:endParaRPr/>
          </a:p>
        </p:txBody>
      </p:sp>
      <p:sp>
        <p:nvSpPr>
          <p:cNvPr id="49" name="Google Shape;49;p2"/>
          <p:cNvSpPr txBox="1"/>
          <p:nvPr/>
        </p:nvSpPr>
        <p:spPr>
          <a:xfrm>
            <a:off x="2093976" y="4480559"/>
            <a:ext cx="1060705" cy="161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Atención</a:t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3401567" y="3703320"/>
            <a:ext cx="1280161" cy="1325881"/>
          </a:xfrm>
          <a:prstGeom prst="roundRect">
            <a:avLst>
              <a:gd name="adj" fmla="val 5714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584447" y="3904488"/>
            <a:ext cx="457201" cy="457201"/>
          </a:xfrm>
          <a:prstGeom prst="ellipse">
            <a:avLst/>
          </a:prstGeom>
          <a:solidFill>
            <a:srgbClr val="15304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3584447" y="4031488"/>
            <a:ext cx="457201" cy="203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verlock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rPr>
              <a:t>03</a:t>
            </a:r>
            <a:endParaRPr/>
          </a:p>
        </p:txBody>
      </p:sp>
      <p:sp>
        <p:nvSpPr>
          <p:cNvPr id="53" name="Google Shape;53;p2"/>
          <p:cNvSpPr txBox="1"/>
          <p:nvPr/>
        </p:nvSpPr>
        <p:spPr>
          <a:xfrm>
            <a:off x="3511296" y="4480559"/>
            <a:ext cx="1060705" cy="161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Inventario</a:t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818888" y="3703320"/>
            <a:ext cx="1280161" cy="1325881"/>
          </a:xfrm>
          <a:prstGeom prst="roundRect">
            <a:avLst>
              <a:gd name="adj" fmla="val 5714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001767" y="3904488"/>
            <a:ext cx="457201" cy="457201"/>
          </a:xfrm>
          <a:prstGeom prst="ellipse">
            <a:avLst/>
          </a:prstGeom>
          <a:solidFill>
            <a:srgbClr val="15304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5001767" y="4031488"/>
            <a:ext cx="457201" cy="203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verlock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rPr>
              <a:t>04</a:t>
            </a:r>
            <a:endParaRPr/>
          </a:p>
        </p:txBody>
      </p:sp>
      <p:sp>
        <p:nvSpPr>
          <p:cNvPr id="57" name="Google Shape;57;p2"/>
          <p:cNvSpPr txBox="1"/>
          <p:nvPr/>
        </p:nvSpPr>
        <p:spPr>
          <a:xfrm>
            <a:off x="4928615" y="4480559"/>
            <a:ext cx="1060705" cy="32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Logística inversa</a:t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6720840" y="1005839"/>
            <a:ext cx="4892041" cy="4846322"/>
          </a:xfrm>
          <a:prstGeom prst="roundRect">
            <a:avLst>
              <a:gd name="adj" fmla="val 1509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7040880" y="1349547"/>
            <a:ext cx="4251961" cy="13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VENTAS vs MARGEN</a:t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7223759" y="4069079"/>
            <a:ext cx="566929" cy="1005841"/>
          </a:xfrm>
          <a:prstGeom prst="roundRect">
            <a:avLst>
              <a:gd name="adj" fmla="val 6452"/>
            </a:avLst>
          </a:prstGeom>
          <a:solidFill>
            <a:srgbClr val="2E9E7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7132319" y="5180584"/>
            <a:ext cx="749809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Q1</a:t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8174735" y="3520440"/>
            <a:ext cx="566929" cy="1554481"/>
          </a:xfrm>
          <a:prstGeom prst="roundRect">
            <a:avLst>
              <a:gd name="adj" fmla="val 6452"/>
            </a:avLst>
          </a:prstGeom>
          <a:solidFill>
            <a:srgbClr val="2E9E7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8083295" y="5180584"/>
            <a:ext cx="749809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Q2</a:t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9125711" y="2788920"/>
            <a:ext cx="566929" cy="2286001"/>
          </a:xfrm>
          <a:prstGeom prst="roundRect">
            <a:avLst>
              <a:gd name="adj" fmla="val 6452"/>
            </a:avLst>
          </a:prstGeom>
          <a:solidFill>
            <a:srgbClr val="2E9E7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9034271" y="5180584"/>
            <a:ext cx="749809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Q3</a:t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10076688" y="1965960"/>
            <a:ext cx="566929" cy="3108961"/>
          </a:xfrm>
          <a:prstGeom prst="roundRect">
            <a:avLst>
              <a:gd name="adj" fmla="val 6452"/>
            </a:avLst>
          </a:prstGeom>
          <a:solidFill>
            <a:srgbClr val="1F7A5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9985247" y="5180584"/>
            <a:ext cx="749809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Q4</a:t>
            </a:r>
            <a:endParaRPr/>
          </a:p>
        </p:txBody>
      </p:sp>
      <p:sp>
        <p:nvSpPr>
          <p:cNvPr id="68" name="Google Shape;68;p2"/>
          <p:cNvSpPr txBox="1"/>
          <p:nvPr/>
        </p:nvSpPr>
        <p:spPr>
          <a:xfrm>
            <a:off x="6836536" y="3836415"/>
            <a:ext cx="18288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7A5A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F7A5A"/>
                </a:solidFill>
                <a:latin typeface="Arial"/>
                <a:ea typeface="Arial"/>
                <a:cs typeface="Arial"/>
                <a:sym typeface="Arial"/>
              </a:rPr>
              <a:t>VENTAS</a:t>
            </a:r>
            <a:endParaRPr/>
          </a:p>
        </p:txBody>
      </p:sp>
      <p:cxnSp>
        <p:nvCxnSpPr>
          <p:cNvPr id="69" name="Google Shape;69;p2"/>
          <p:cNvCxnSpPr/>
          <p:nvPr/>
        </p:nvCxnSpPr>
        <p:spPr>
          <a:xfrm>
            <a:off x="7498080" y="2057399"/>
            <a:ext cx="1280161" cy="365761"/>
          </a:xfrm>
          <a:prstGeom prst="straightConnector1">
            <a:avLst/>
          </a:prstGeom>
          <a:noFill/>
          <a:ln w="31750" cap="flat" cmpd="sng">
            <a:solidFill>
              <a:srgbClr val="B64A3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" name="Google Shape;70;p2"/>
          <p:cNvCxnSpPr/>
          <p:nvPr/>
        </p:nvCxnSpPr>
        <p:spPr>
          <a:xfrm>
            <a:off x="8778240" y="2423160"/>
            <a:ext cx="1188721" cy="640081"/>
          </a:xfrm>
          <a:prstGeom prst="straightConnector1">
            <a:avLst/>
          </a:prstGeom>
          <a:noFill/>
          <a:ln w="31750" cap="flat" cmpd="sng">
            <a:solidFill>
              <a:srgbClr val="B64A3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" name="Google Shape;71;p2"/>
          <p:cNvCxnSpPr/>
          <p:nvPr/>
        </p:nvCxnSpPr>
        <p:spPr>
          <a:xfrm>
            <a:off x="9966959" y="3063239"/>
            <a:ext cx="914401" cy="868681"/>
          </a:xfrm>
          <a:prstGeom prst="straightConnector1">
            <a:avLst/>
          </a:prstGeom>
          <a:noFill/>
          <a:ln w="31750" cap="flat" cmpd="sng">
            <a:solidFill>
              <a:srgbClr val="B64A3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" name="Google Shape;72;p2"/>
          <p:cNvSpPr/>
          <p:nvPr/>
        </p:nvSpPr>
        <p:spPr>
          <a:xfrm>
            <a:off x="7443216" y="2002535"/>
            <a:ext cx="109729" cy="109729"/>
          </a:xfrm>
          <a:prstGeom prst="ellipse">
            <a:avLst/>
          </a:prstGeom>
          <a:solidFill>
            <a:srgbClr val="B64A3B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8723376" y="2368295"/>
            <a:ext cx="109729" cy="109729"/>
          </a:xfrm>
          <a:prstGeom prst="ellipse">
            <a:avLst/>
          </a:prstGeom>
          <a:solidFill>
            <a:srgbClr val="B64A3B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9912095" y="3008376"/>
            <a:ext cx="109729" cy="109729"/>
          </a:xfrm>
          <a:prstGeom prst="ellipse">
            <a:avLst/>
          </a:prstGeom>
          <a:solidFill>
            <a:srgbClr val="B64A3B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10826495" y="3877055"/>
            <a:ext cx="109729" cy="109729"/>
          </a:xfrm>
          <a:prstGeom prst="ellipse">
            <a:avLst/>
          </a:prstGeom>
          <a:solidFill>
            <a:srgbClr val="B64A3B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6653530" y="1806312"/>
            <a:ext cx="146304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64A3B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B64A3B"/>
                </a:solidFill>
                <a:latin typeface="Arial"/>
                <a:ea typeface="Arial"/>
                <a:cs typeface="Arial"/>
                <a:sym typeface="Arial"/>
              </a:rPr>
              <a:t>MARGEN</a:t>
            </a:r>
            <a:endParaRPr/>
          </a:p>
        </p:txBody>
      </p:sp>
      <p:pic>
        <p:nvPicPr>
          <p:cNvPr id="77" name="Google Shape;77;p2" descr="Google Shape;3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/>
        </p:nvSpPr>
        <p:spPr>
          <a:xfrm>
            <a:off x="566927" y="457707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PROBLEMA / 02 · CONTEXTO DE MERCADO</a:t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6400800" y="6511036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EL EFECTO ESCALA</a:t>
            </a:r>
            <a:endParaRPr/>
          </a:p>
        </p:txBody>
      </p:sp>
      <p:sp>
        <p:nvSpPr>
          <p:cNvPr id="84" name="Google Shape;84;p3"/>
          <p:cNvSpPr txBox="1"/>
          <p:nvPr/>
        </p:nvSpPr>
        <p:spPr>
          <a:xfrm>
            <a:off x="566927" y="749808"/>
            <a:ext cx="6583682" cy="813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2800"/>
              <a:buFont typeface="Overlock"/>
              <a:buNone/>
            </a:pPr>
            <a:r>
              <a:rPr lang="en-US" sz="2800" b="1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El mercado crece. La exposición también.</a:t>
            </a:r>
            <a:endParaRPr/>
          </a:p>
        </p:txBody>
      </p:sp>
      <p:sp>
        <p:nvSpPr>
          <p:cNvPr id="85" name="Google Shape;85;p3"/>
          <p:cNvSpPr txBox="1"/>
          <p:nvPr/>
        </p:nvSpPr>
        <p:spPr>
          <a:xfrm>
            <a:off x="566927" y="1874520"/>
            <a:ext cx="6309362" cy="472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Más volumen convierte una incidencia aislada en una presión estructural sobre margen y capacidad.</a:t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66927" y="2743200"/>
            <a:ext cx="3063241" cy="1783080"/>
          </a:xfrm>
          <a:prstGeom prst="roundRect">
            <a:avLst>
              <a:gd name="adj" fmla="val 4103"/>
            </a:avLst>
          </a:prstGeom>
          <a:solidFill>
            <a:srgbClr val="00114B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777239" y="3018184"/>
            <a:ext cx="2697482" cy="27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9FB0CC"/>
                </a:solidFill>
                <a:latin typeface="Arial"/>
                <a:ea typeface="Arial"/>
                <a:cs typeface="Arial"/>
                <a:sym typeface="Arial"/>
              </a:rPr>
              <a:t>FACTURACIÓN ECOMMERCE · ESPAÑA · Q2 2025</a:t>
            </a:r>
            <a:endParaRPr/>
          </a:p>
        </p:txBody>
      </p:sp>
      <p:sp>
        <p:nvSpPr>
          <p:cNvPr id="88" name="Google Shape;88;p3"/>
          <p:cNvSpPr txBox="1"/>
          <p:nvPr/>
        </p:nvSpPr>
        <p:spPr>
          <a:xfrm>
            <a:off x="777240" y="3480307"/>
            <a:ext cx="2743201" cy="482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verlock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rPr>
              <a:t>28.346 M€</a:t>
            </a:r>
            <a:endParaRPr/>
          </a:p>
        </p:txBody>
      </p:sp>
      <p:sp>
        <p:nvSpPr>
          <p:cNvPr id="89" name="Google Shape;89;p3"/>
          <p:cNvSpPr txBox="1"/>
          <p:nvPr/>
        </p:nvSpPr>
        <p:spPr>
          <a:xfrm>
            <a:off x="777240" y="4155185"/>
            <a:ext cx="2743201" cy="14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+22,6 % INTERANUAL</a:t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3767328" y="2743200"/>
            <a:ext cx="3063241" cy="1783080"/>
          </a:xfrm>
          <a:prstGeom prst="roundRect">
            <a:avLst>
              <a:gd name="adj" fmla="val 4103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3977640" y="3122929"/>
            <a:ext cx="2651761" cy="520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3400"/>
              <a:buFont typeface="Overlock"/>
              <a:buNone/>
            </a:pPr>
            <a:r>
              <a:rPr lang="en-US" sz="3400" b="1" i="0" u="none" strike="noStrike" cap="none">
                <a:solidFill>
                  <a:srgbClr val="F26302"/>
                </a:solidFill>
                <a:latin typeface="Overlock"/>
                <a:ea typeface="Overlock"/>
                <a:cs typeface="Overlock"/>
                <a:sym typeface="Overlock"/>
              </a:rPr>
              <a:t>56,7 %</a:t>
            </a:r>
            <a:endParaRPr/>
          </a:p>
        </p:txBody>
      </p:sp>
      <p:sp>
        <p:nvSpPr>
          <p:cNvPr id="92" name="Google Shape;92;p3"/>
          <p:cNvSpPr txBox="1"/>
          <p:nvPr/>
        </p:nvSpPr>
        <p:spPr>
          <a:xfrm>
            <a:off x="3977640" y="3970306"/>
            <a:ext cx="2651761" cy="19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De los hogares compra online</a:t>
            </a:r>
            <a:endParaRPr/>
          </a:p>
        </p:txBody>
      </p:sp>
      <p:sp>
        <p:nvSpPr>
          <p:cNvPr id="93" name="Google Shape;93;p3"/>
          <p:cNvSpPr txBox="1"/>
          <p:nvPr/>
        </p:nvSpPr>
        <p:spPr>
          <a:xfrm>
            <a:off x="7040880" y="1105707"/>
            <a:ext cx="4572001" cy="13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EL EFECTO ESCALA</a:t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7040880" y="1539239"/>
            <a:ext cx="4526281" cy="841249"/>
          </a:xfrm>
          <a:prstGeom prst="roundRect">
            <a:avLst>
              <a:gd name="adj" fmla="val 8696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7269480" y="1700783"/>
            <a:ext cx="365761" cy="365761"/>
          </a:xfrm>
          <a:prstGeom prst="ellipse">
            <a:avLst/>
          </a:prstGeom>
          <a:solidFill>
            <a:srgbClr val="2E9E7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7818119" y="1861172"/>
            <a:ext cx="3657601" cy="19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Más pedidos</a:t>
            </a:r>
            <a:endParaRPr/>
          </a:p>
        </p:txBody>
      </p:sp>
      <p:sp>
        <p:nvSpPr>
          <p:cNvPr id="97" name="Google Shape;97;p3"/>
          <p:cNvSpPr txBox="1"/>
          <p:nvPr/>
        </p:nvSpPr>
        <p:spPr>
          <a:xfrm>
            <a:off x="7333488" y="2293895"/>
            <a:ext cx="274321" cy="221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7040880" y="2590800"/>
            <a:ext cx="4526281" cy="841248"/>
          </a:xfrm>
          <a:prstGeom prst="roundRect">
            <a:avLst>
              <a:gd name="adj" fmla="val 8696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7269480" y="2752344"/>
            <a:ext cx="365761" cy="365761"/>
          </a:xfrm>
          <a:prstGeom prst="ellipse">
            <a:avLst/>
          </a:prstGeom>
          <a:solidFill>
            <a:srgbClr val="F2630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7818119" y="2912732"/>
            <a:ext cx="3657601" cy="19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Más incidencias</a:t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7333488" y="3345455"/>
            <a:ext cx="274321" cy="22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7040880" y="3642359"/>
            <a:ext cx="4526281" cy="841249"/>
          </a:xfrm>
          <a:prstGeom prst="roundRect">
            <a:avLst>
              <a:gd name="adj" fmla="val 8696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7269480" y="3803903"/>
            <a:ext cx="365761" cy="365761"/>
          </a:xfrm>
          <a:prstGeom prst="ellipse">
            <a:avLst/>
          </a:prstGeom>
          <a:solidFill>
            <a:srgbClr val="B64A3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7818119" y="3964292"/>
            <a:ext cx="3657601" cy="19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Más presión sobre el margen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566927" y="4800599"/>
            <a:ext cx="6309362" cy="169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La facturación incluye bienes y servicios: muestra la escala del canal, no el volumen retornable.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566927" y="6126479"/>
            <a:ext cx="10515601" cy="194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Fuentes: CNMC (Q2 2025) e INE (2024), citadas en el informe de investigación.</a:t>
            </a:r>
            <a:endParaRPr/>
          </a:p>
        </p:txBody>
      </p:sp>
      <p:pic>
        <p:nvPicPr>
          <p:cNvPr id="107" name="Google Shape;107;p3" descr="Google Shape;3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/>
        </p:nvSpPr>
        <p:spPr>
          <a:xfrm>
            <a:off x="566927" y="457707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PROBLEMA / 03 · DOLOR DE MERCADO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6400800" y="6511036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COSTE YA DEVENGADO</a:t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566927" y="749808"/>
            <a:ext cx="7315201" cy="76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2600"/>
              <a:buFont typeface="Overlock"/>
              <a:buNone/>
            </a:pPr>
            <a:r>
              <a:rPr lang="en-US" sz="2600" b="1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El coste aparece antes de que el equipo pueda actuar.</a:t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566927" y="1783079"/>
            <a:ext cx="10607042" cy="217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La operación detecta el problema después del envío, cuando transporte, soporte e inventario ya están comprometidos.</a:t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868680" y="2697479"/>
            <a:ext cx="566929" cy="566929"/>
          </a:xfrm>
          <a:prstGeom prst="ellipse">
            <a:avLst/>
          </a:prstGeom>
          <a:solidFill>
            <a:srgbClr val="00114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868680" y="2879343"/>
            <a:ext cx="566929" cy="203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verlock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rPr>
              <a:t>01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411479" y="3400804"/>
            <a:ext cx="1463042" cy="14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Pedido</a:t>
            </a:r>
            <a:endParaRPr/>
          </a:p>
        </p:txBody>
      </p:sp>
      <p:cxnSp>
        <p:nvCxnSpPr>
          <p:cNvPr id="119" name="Google Shape;119;p4"/>
          <p:cNvCxnSpPr/>
          <p:nvPr/>
        </p:nvCxnSpPr>
        <p:spPr>
          <a:xfrm>
            <a:off x="1508760" y="2980944"/>
            <a:ext cx="1435609" cy="1"/>
          </a:xfrm>
          <a:prstGeom prst="straightConnector1">
            <a:avLst/>
          </a:prstGeom>
          <a:noFill/>
          <a:ln w="25400" cap="flat" cmpd="sng">
            <a:solidFill>
              <a:srgbClr val="00114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0" name="Google Shape;120;p4"/>
          <p:cNvSpPr/>
          <p:nvPr/>
        </p:nvSpPr>
        <p:spPr>
          <a:xfrm>
            <a:off x="3017520" y="2697479"/>
            <a:ext cx="566929" cy="566929"/>
          </a:xfrm>
          <a:prstGeom prst="ellipse">
            <a:avLst/>
          </a:prstGeom>
          <a:solidFill>
            <a:srgbClr val="00114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3017520" y="2879343"/>
            <a:ext cx="566929" cy="203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verlock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rPr>
              <a:t>02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2560320" y="3400804"/>
            <a:ext cx="1463041" cy="14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Envío</a:t>
            </a:r>
            <a:endParaRPr/>
          </a:p>
        </p:txBody>
      </p:sp>
      <p:cxnSp>
        <p:nvCxnSpPr>
          <p:cNvPr id="123" name="Google Shape;123;p4"/>
          <p:cNvCxnSpPr/>
          <p:nvPr/>
        </p:nvCxnSpPr>
        <p:spPr>
          <a:xfrm>
            <a:off x="3657599" y="2980944"/>
            <a:ext cx="1435610" cy="1"/>
          </a:xfrm>
          <a:prstGeom prst="straightConnector1">
            <a:avLst/>
          </a:prstGeom>
          <a:noFill/>
          <a:ln w="25400" cap="flat" cmpd="sng">
            <a:solidFill>
              <a:srgbClr val="B64A3B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4" name="Google Shape;124;p4"/>
          <p:cNvSpPr/>
          <p:nvPr/>
        </p:nvSpPr>
        <p:spPr>
          <a:xfrm>
            <a:off x="5166359" y="2697479"/>
            <a:ext cx="566929" cy="566929"/>
          </a:xfrm>
          <a:prstGeom prst="ellipse">
            <a:avLst/>
          </a:prstGeom>
          <a:solidFill>
            <a:srgbClr val="B64A3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5166359" y="2879343"/>
            <a:ext cx="566929" cy="203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verlock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rPr>
              <a:t>03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4709159" y="3400804"/>
            <a:ext cx="1463041" cy="14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Reclamo</a:t>
            </a:r>
            <a:endParaRPr/>
          </a:p>
        </p:txBody>
      </p:sp>
      <p:cxnSp>
        <p:nvCxnSpPr>
          <p:cNvPr id="127" name="Google Shape;127;p4"/>
          <p:cNvCxnSpPr/>
          <p:nvPr/>
        </p:nvCxnSpPr>
        <p:spPr>
          <a:xfrm>
            <a:off x="5806440" y="2980944"/>
            <a:ext cx="1435609" cy="1"/>
          </a:xfrm>
          <a:prstGeom prst="straightConnector1">
            <a:avLst/>
          </a:prstGeom>
          <a:noFill/>
          <a:ln w="25400" cap="flat" cmpd="sng">
            <a:solidFill>
              <a:srgbClr val="B64A3B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8" name="Google Shape;128;p4"/>
          <p:cNvSpPr/>
          <p:nvPr/>
        </p:nvSpPr>
        <p:spPr>
          <a:xfrm>
            <a:off x="7315200" y="2697479"/>
            <a:ext cx="566928" cy="566929"/>
          </a:xfrm>
          <a:prstGeom prst="ellipse">
            <a:avLst/>
          </a:prstGeom>
          <a:solidFill>
            <a:srgbClr val="B64A3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7315200" y="2879343"/>
            <a:ext cx="566928" cy="203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verlock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rPr>
              <a:t>04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6857999" y="3400804"/>
            <a:ext cx="1463042" cy="14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Devolución</a:t>
            </a:r>
            <a:endParaRPr/>
          </a:p>
        </p:txBody>
      </p:sp>
      <p:cxnSp>
        <p:nvCxnSpPr>
          <p:cNvPr id="131" name="Google Shape;131;p4"/>
          <p:cNvCxnSpPr/>
          <p:nvPr/>
        </p:nvCxnSpPr>
        <p:spPr>
          <a:xfrm>
            <a:off x="7955280" y="2980944"/>
            <a:ext cx="1435609" cy="1"/>
          </a:xfrm>
          <a:prstGeom prst="straightConnector1">
            <a:avLst/>
          </a:prstGeom>
          <a:noFill/>
          <a:ln w="25400" cap="flat" cmpd="sng">
            <a:solidFill>
              <a:srgbClr val="B64A3B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2" name="Google Shape;132;p4"/>
          <p:cNvSpPr/>
          <p:nvPr/>
        </p:nvSpPr>
        <p:spPr>
          <a:xfrm>
            <a:off x="9464040" y="2697479"/>
            <a:ext cx="566929" cy="566929"/>
          </a:xfrm>
          <a:prstGeom prst="ellipse">
            <a:avLst/>
          </a:prstGeom>
          <a:solidFill>
            <a:srgbClr val="B64A3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9464040" y="2879343"/>
            <a:ext cx="566929" cy="203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verlock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rPr>
              <a:t>05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9006840" y="3400804"/>
            <a:ext cx="1463041" cy="14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Reembolso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2743200" y="2359610"/>
            <a:ext cx="2011679" cy="1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◆ PUNTO DE ENVÍO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5166359" y="2359659"/>
            <a:ext cx="41148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64A3B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B64A3B"/>
                </a:solidFill>
                <a:latin typeface="Arial"/>
                <a:ea typeface="Arial"/>
                <a:cs typeface="Arial"/>
                <a:sym typeface="Arial"/>
              </a:rPr>
              <a:t>COSTE YA DEVENGADO →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566927" y="4069079"/>
            <a:ext cx="3520442" cy="1874521"/>
          </a:xfrm>
          <a:prstGeom prst="roundRect">
            <a:avLst>
              <a:gd name="adj" fmla="val 3902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841247" y="4343400"/>
            <a:ext cx="566929" cy="566928"/>
          </a:xfrm>
          <a:prstGeom prst="ellipse">
            <a:avLst/>
          </a:prstGeom>
          <a:solidFill>
            <a:srgbClr val="FBE6D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4" descr="Image 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552" y="4489703"/>
            <a:ext cx="274321" cy="27432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 txBox="1"/>
          <p:nvPr/>
        </p:nvSpPr>
        <p:spPr>
          <a:xfrm>
            <a:off x="1572767" y="4453636"/>
            <a:ext cx="233172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CAPACIDAD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1572767" y="4710938"/>
            <a:ext cx="2331721" cy="215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400"/>
              <a:buFont typeface="Overlock"/>
              <a:buNone/>
            </a:pPr>
            <a:r>
              <a:rPr lang="en-US" sz="1400" b="1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Equipo saturado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859536" y="5166359"/>
            <a:ext cx="2971801" cy="18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Correos, revisiones y coordinación manual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4224528" y="4069079"/>
            <a:ext cx="3520441" cy="1874521"/>
          </a:xfrm>
          <a:prstGeom prst="roundRect">
            <a:avLst>
              <a:gd name="adj" fmla="val 3902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498847" y="4343400"/>
            <a:ext cx="566929" cy="566928"/>
          </a:xfrm>
          <a:prstGeom prst="ellipse">
            <a:avLst/>
          </a:prstGeom>
          <a:solidFill>
            <a:srgbClr val="FBE6D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4" descr="Image 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5152" y="4489703"/>
            <a:ext cx="274321" cy="27432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4"/>
          <p:cNvSpPr txBox="1"/>
          <p:nvPr/>
        </p:nvSpPr>
        <p:spPr>
          <a:xfrm>
            <a:off x="5230367" y="4453636"/>
            <a:ext cx="233172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WORKING CAPITAL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5230367" y="4710938"/>
            <a:ext cx="2331721" cy="215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400"/>
              <a:buFont typeface="Overlock"/>
              <a:buNone/>
            </a:pPr>
            <a:r>
              <a:rPr lang="en-US" sz="1400" b="1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Inventario inmovilizado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4517135" y="5166359"/>
            <a:ext cx="2971801" cy="18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El producto deja de vender mientras regresa</a:t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7882128" y="4069079"/>
            <a:ext cx="3520441" cy="1874521"/>
          </a:xfrm>
          <a:prstGeom prst="roundRect">
            <a:avLst>
              <a:gd name="adj" fmla="val 3902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8156447" y="4343400"/>
            <a:ext cx="566929" cy="566928"/>
          </a:xfrm>
          <a:prstGeom prst="ellipse">
            <a:avLst/>
          </a:prstGeom>
          <a:solidFill>
            <a:srgbClr val="FBE6D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4" descr="Image 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02752" y="4489703"/>
            <a:ext cx="274321" cy="27432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4"/>
          <p:cNvSpPr txBox="1"/>
          <p:nvPr/>
        </p:nvSpPr>
        <p:spPr>
          <a:xfrm>
            <a:off x="8887968" y="4453636"/>
            <a:ext cx="233172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CAUSA RAÍZ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8887968" y="4710938"/>
            <a:ext cx="2331721" cy="215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400"/>
              <a:buFont typeface="Overlock"/>
              <a:buNone/>
            </a:pPr>
            <a:r>
              <a:rPr lang="en-US" sz="1400" b="1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El patrón se repite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8174735" y="5166359"/>
            <a:ext cx="2971801" cy="18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Talla, imágenes, descripción y comportamiento</a:t>
            </a:r>
            <a:endParaRPr/>
          </a:p>
        </p:txBody>
      </p:sp>
      <p:pic>
        <p:nvPicPr>
          <p:cNvPr id="155" name="Google Shape;155;p4" descr="Google Shape;39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 txBox="1"/>
          <p:nvPr/>
        </p:nvSpPr>
        <p:spPr>
          <a:xfrm>
            <a:off x="566927" y="457707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PROBLEMA / 04 · EVIDENCIA CUANTITATIVA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6400800" y="6511036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COSTE OCULTO DE LA DEVOLUCIÓN</a:t>
            </a:r>
            <a:endParaRPr/>
          </a:p>
        </p:txBody>
      </p:sp>
      <p:pic>
        <p:nvPicPr>
          <p:cNvPr id="162" name="Google Shape;162;p5" descr="Google Shape;3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/>
          <p:nvPr/>
        </p:nvSpPr>
        <p:spPr>
          <a:xfrm>
            <a:off x="400050" y="749708"/>
            <a:ext cx="98223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1A"/>
              </a:buClr>
              <a:buSzPts val="2951"/>
              <a:buFont typeface="Play"/>
              <a:buNone/>
            </a:pPr>
            <a:r>
              <a:rPr lang="en-US" sz="2951" b="1">
                <a:solidFill>
                  <a:srgbClr val="071A1A"/>
                </a:solidFill>
                <a:latin typeface="Play"/>
                <a:ea typeface="Play"/>
                <a:cs typeface="Play"/>
                <a:sym typeface="Play"/>
              </a:rPr>
              <a:t>El problema combina frecuencia y coste</a:t>
            </a:r>
            <a:endParaRPr sz="1900"/>
          </a:p>
        </p:txBody>
      </p:sp>
      <p:sp>
        <p:nvSpPr>
          <p:cNvPr id="164" name="Google Shape;164;p5"/>
          <p:cNvSpPr/>
          <p:nvPr/>
        </p:nvSpPr>
        <p:spPr>
          <a:xfrm>
            <a:off x="400050" y="1305436"/>
            <a:ext cx="99516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8782"/>
              </a:buClr>
              <a:buSzPts val="1578"/>
              <a:buFont typeface="Arial"/>
              <a:buNone/>
            </a:pPr>
            <a:r>
              <a:rPr lang="en-US" sz="1578" b="0">
                <a:solidFill>
                  <a:srgbClr val="718782"/>
                </a:solidFill>
                <a:latin typeface="Arial"/>
                <a:ea typeface="Arial"/>
                <a:cs typeface="Arial"/>
                <a:sym typeface="Arial"/>
              </a:rPr>
              <a:t>Dos fuerzas que convierten las devoluciones en una fuga estructural de margen.</a:t>
            </a:r>
            <a:endParaRPr sz="1900"/>
          </a:p>
        </p:txBody>
      </p:sp>
      <p:sp>
        <p:nvSpPr>
          <p:cNvPr id="165" name="Google Shape;165;p5"/>
          <p:cNvSpPr/>
          <p:nvPr/>
        </p:nvSpPr>
        <p:spPr>
          <a:xfrm>
            <a:off x="400050" y="1822393"/>
            <a:ext cx="5376300" cy="3282900"/>
          </a:xfrm>
          <a:prstGeom prst="roundRect">
            <a:avLst>
              <a:gd name="adj" fmla="val 3543"/>
            </a:avLst>
          </a:prstGeom>
          <a:solidFill>
            <a:srgbClr val="FFFFFF"/>
          </a:solidFill>
          <a:ln w="12925" cap="flat" cmpd="sng">
            <a:solidFill>
              <a:srgbClr val="E9C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697300" y="2093795"/>
            <a:ext cx="19389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8782"/>
              </a:buClr>
              <a:buSzPts val="1119"/>
              <a:buFont typeface="Arial"/>
              <a:buNone/>
            </a:pPr>
            <a:r>
              <a:rPr lang="en-US" sz="1119" b="1">
                <a:solidFill>
                  <a:srgbClr val="718782"/>
                </a:solidFill>
                <a:latin typeface="Arial"/>
                <a:ea typeface="Arial"/>
                <a:cs typeface="Arial"/>
                <a:sym typeface="Arial"/>
              </a:rPr>
              <a:t>FRECUENCIA</a:t>
            </a:r>
            <a:endParaRPr sz="1900"/>
          </a:p>
        </p:txBody>
      </p:sp>
      <p:sp>
        <p:nvSpPr>
          <p:cNvPr id="167" name="Google Shape;167;p5"/>
          <p:cNvSpPr/>
          <p:nvPr/>
        </p:nvSpPr>
        <p:spPr>
          <a:xfrm>
            <a:off x="671452" y="2378121"/>
            <a:ext cx="3036900" cy="8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B49"/>
              </a:buClr>
              <a:buSzPts val="5801"/>
              <a:buFont typeface="Play"/>
              <a:buNone/>
            </a:pPr>
            <a:r>
              <a:rPr lang="en-US" sz="5801" b="1">
                <a:solidFill>
                  <a:srgbClr val="FF5B49"/>
                </a:solidFill>
                <a:latin typeface="Play"/>
                <a:ea typeface="Play"/>
                <a:cs typeface="Play"/>
                <a:sym typeface="Play"/>
              </a:rPr>
              <a:t>19,3 %</a:t>
            </a:r>
            <a:endParaRPr sz="1900"/>
          </a:p>
        </p:txBody>
      </p:sp>
      <p:sp>
        <p:nvSpPr>
          <p:cNvPr id="168" name="Google Shape;168;p5"/>
          <p:cNvSpPr/>
          <p:nvPr/>
        </p:nvSpPr>
        <p:spPr>
          <a:xfrm>
            <a:off x="710224" y="3282795"/>
            <a:ext cx="4135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1A"/>
              </a:buClr>
              <a:buSzPts val="1832"/>
              <a:buFont typeface="Arial"/>
              <a:buNone/>
            </a:pPr>
            <a:r>
              <a:rPr lang="en-US" sz="1832" b="1">
                <a:solidFill>
                  <a:srgbClr val="071A1A"/>
                </a:solidFill>
                <a:latin typeface="Arial"/>
                <a:ea typeface="Arial"/>
                <a:cs typeface="Arial"/>
                <a:sym typeface="Arial"/>
              </a:rPr>
              <a:t>de las ventas online se devuelven</a:t>
            </a:r>
            <a:endParaRPr sz="1900"/>
          </a:p>
        </p:txBody>
      </p:sp>
      <p:sp>
        <p:nvSpPr>
          <p:cNvPr id="169" name="Google Shape;169;p5"/>
          <p:cNvSpPr/>
          <p:nvPr/>
        </p:nvSpPr>
        <p:spPr>
          <a:xfrm>
            <a:off x="710224" y="3644665"/>
            <a:ext cx="3877200" cy="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8782"/>
              </a:buClr>
              <a:buSzPts val="1171"/>
              <a:buFont typeface="Arial"/>
              <a:buNone/>
            </a:pPr>
            <a:r>
              <a:rPr lang="en-US" sz="1171" b="0">
                <a:solidFill>
                  <a:srgbClr val="718782"/>
                </a:solidFill>
                <a:latin typeface="Arial"/>
                <a:ea typeface="Arial"/>
                <a:cs typeface="Arial"/>
                <a:sym typeface="Arial"/>
              </a:rPr>
              <a:t>Benchmark retail EE. UU. · 2025</a:t>
            </a:r>
            <a:endParaRPr sz="1900"/>
          </a:p>
        </p:txBody>
      </p:sp>
      <p:sp>
        <p:nvSpPr>
          <p:cNvPr id="170" name="Google Shape;170;p5"/>
          <p:cNvSpPr/>
          <p:nvPr/>
        </p:nvSpPr>
        <p:spPr>
          <a:xfrm>
            <a:off x="710224" y="4084078"/>
            <a:ext cx="620400" cy="516900"/>
          </a:xfrm>
          <a:prstGeom prst="roundRect">
            <a:avLst>
              <a:gd name="adj" fmla="val 12500"/>
            </a:avLst>
          </a:prstGeom>
          <a:solidFill>
            <a:srgbClr val="FF5B49"/>
          </a:solidFill>
          <a:ln w="12925" cap="flat" cmpd="sng">
            <a:solidFill>
              <a:srgbClr val="FF5B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839463" y="4200393"/>
            <a:ext cx="361800" cy="3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891159" y="4303784"/>
            <a:ext cx="258600" cy="1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1459811" y="4084078"/>
            <a:ext cx="620400" cy="516900"/>
          </a:xfrm>
          <a:prstGeom prst="roundRect">
            <a:avLst>
              <a:gd name="adj" fmla="val 12500"/>
            </a:avLst>
          </a:prstGeom>
          <a:solidFill>
            <a:srgbClr val="DDE9E5"/>
          </a:solidFill>
          <a:ln w="12925" cap="flat" cmpd="sng">
            <a:solidFill>
              <a:srgbClr val="B4C8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1589050" y="4200393"/>
            <a:ext cx="361800" cy="38700"/>
          </a:xfrm>
          <a:prstGeom prst="rect">
            <a:avLst/>
          </a:prstGeom>
          <a:solidFill>
            <a:srgbClr val="718782"/>
          </a:solidFill>
          <a:ln>
            <a:noFill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1640746" y="4303784"/>
            <a:ext cx="258600" cy="168000"/>
          </a:xfrm>
          <a:prstGeom prst="rect">
            <a:avLst/>
          </a:prstGeom>
          <a:solidFill>
            <a:srgbClr val="718782"/>
          </a:solidFill>
          <a:ln>
            <a:noFill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2209398" y="4084078"/>
            <a:ext cx="620400" cy="516900"/>
          </a:xfrm>
          <a:prstGeom prst="roundRect">
            <a:avLst>
              <a:gd name="adj" fmla="val 12500"/>
            </a:avLst>
          </a:prstGeom>
          <a:solidFill>
            <a:srgbClr val="DDE9E5"/>
          </a:solidFill>
          <a:ln w="12925" cap="flat" cmpd="sng">
            <a:solidFill>
              <a:srgbClr val="B4C8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2338637" y="4200393"/>
            <a:ext cx="361800" cy="38700"/>
          </a:xfrm>
          <a:prstGeom prst="rect">
            <a:avLst/>
          </a:prstGeom>
          <a:solidFill>
            <a:srgbClr val="718782"/>
          </a:solidFill>
          <a:ln>
            <a:noFill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2390332" y="4303784"/>
            <a:ext cx="258600" cy="168000"/>
          </a:xfrm>
          <a:prstGeom prst="rect">
            <a:avLst/>
          </a:prstGeom>
          <a:solidFill>
            <a:srgbClr val="718782"/>
          </a:solidFill>
          <a:ln>
            <a:noFill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2958984" y="4084078"/>
            <a:ext cx="620400" cy="516900"/>
          </a:xfrm>
          <a:prstGeom prst="roundRect">
            <a:avLst>
              <a:gd name="adj" fmla="val 12500"/>
            </a:avLst>
          </a:prstGeom>
          <a:solidFill>
            <a:srgbClr val="DDE9E5"/>
          </a:solidFill>
          <a:ln w="12925" cap="flat" cmpd="sng">
            <a:solidFill>
              <a:srgbClr val="B4C8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3088224" y="4200393"/>
            <a:ext cx="361800" cy="38700"/>
          </a:xfrm>
          <a:prstGeom prst="rect">
            <a:avLst/>
          </a:prstGeom>
          <a:solidFill>
            <a:srgbClr val="718782"/>
          </a:solidFill>
          <a:ln>
            <a:noFill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3139919" y="4303784"/>
            <a:ext cx="258600" cy="168000"/>
          </a:xfrm>
          <a:prstGeom prst="rect">
            <a:avLst/>
          </a:prstGeom>
          <a:solidFill>
            <a:srgbClr val="718782"/>
          </a:solidFill>
          <a:ln>
            <a:noFill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3708571" y="4084078"/>
            <a:ext cx="620400" cy="516900"/>
          </a:xfrm>
          <a:prstGeom prst="roundRect">
            <a:avLst>
              <a:gd name="adj" fmla="val 12500"/>
            </a:avLst>
          </a:prstGeom>
          <a:solidFill>
            <a:srgbClr val="DDE9E5"/>
          </a:solidFill>
          <a:ln w="12925" cap="flat" cmpd="sng">
            <a:solidFill>
              <a:srgbClr val="B4C8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3837810" y="4200393"/>
            <a:ext cx="361800" cy="38700"/>
          </a:xfrm>
          <a:prstGeom prst="rect">
            <a:avLst/>
          </a:prstGeom>
          <a:solidFill>
            <a:srgbClr val="718782"/>
          </a:solidFill>
          <a:ln>
            <a:noFill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3889506" y="4303784"/>
            <a:ext cx="258600" cy="168000"/>
          </a:xfrm>
          <a:prstGeom prst="rect">
            <a:avLst/>
          </a:prstGeom>
          <a:solidFill>
            <a:srgbClr val="718782"/>
          </a:solidFill>
          <a:ln>
            <a:noFill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710224" y="4717349"/>
            <a:ext cx="4394100" cy="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B49"/>
              </a:buClr>
              <a:buSzPts val="1273"/>
              <a:buFont typeface="Arial"/>
              <a:buNone/>
            </a:pPr>
            <a:r>
              <a:rPr lang="en-US" sz="1273" b="1">
                <a:solidFill>
                  <a:srgbClr val="FF5B49"/>
                </a:solidFill>
                <a:latin typeface="Arial"/>
                <a:ea typeface="Arial"/>
                <a:cs typeface="Arial"/>
                <a:sym typeface="Arial"/>
              </a:rPr>
              <a:t>≈ 1 de cada 5 compras activa el proceso inverso</a:t>
            </a:r>
            <a:endParaRPr sz="1900"/>
          </a:p>
        </p:txBody>
      </p:sp>
      <p:sp>
        <p:nvSpPr>
          <p:cNvPr id="186" name="Google Shape;186;p5"/>
          <p:cNvSpPr/>
          <p:nvPr/>
        </p:nvSpPr>
        <p:spPr>
          <a:xfrm>
            <a:off x="6034875" y="1822393"/>
            <a:ext cx="5686500" cy="3282900"/>
          </a:xfrm>
          <a:prstGeom prst="roundRect">
            <a:avLst>
              <a:gd name="adj" fmla="val 3543"/>
            </a:avLst>
          </a:prstGeom>
          <a:solidFill>
            <a:srgbClr val="061B1B"/>
          </a:solidFill>
          <a:ln>
            <a:noFill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6357973" y="2093795"/>
            <a:ext cx="24552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C0BB"/>
              </a:buClr>
              <a:buSzPts val="1119"/>
              <a:buFont typeface="Arial"/>
              <a:buNone/>
            </a:pPr>
            <a:r>
              <a:rPr lang="en-US" sz="1119" b="1">
                <a:solidFill>
                  <a:srgbClr val="A9C0BB"/>
                </a:solidFill>
                <a:latin typeface="Arial"/>
                <a:ea typeface="Arial"/>
                <a:cs typeface="Arial"/>
                <a:sym typeface="Arial"/>
              </a:rPr>
              <a:t>IMPACTO ECONÓMICO</a:t>
            </a:r>
            <a:endParaRPr sz="1900"/>
          </a:p>
        </p:txBody>
      </p:sp>
      <p:sp>
        <p:nvSpPr>
          <p:cNvPr id="188" name="Google Shape;188;p5"/>
          <p:cNvSpPr/>
          <p:nvPr/>
        </p:nvSpPr>
        <p:spPr>
          <a:xfrm>
            <a:off x="6332125" y="2378121"/>
            <a:ext cx="2196900" cy="8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1"/>
              <a:buFont typeface="Play"/>
              <a:buNone/>
            </a:pPr>
            <a:r>
              <a:rPr lang="en-US" sz="5801" b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17 %</a:t>
            </a:r>
            <a:endParaRPr sz="1900"/>
          </a:p>
        </p:txBody>
      </p:sp>
      <p:sp>
        <p:nvSpPr>
          <p:cNvPr id="189" name="Google Shape;189;p5"/>
          <p:cNvSpPr/>
          <p:nvPr/>
        </p:nvSpPr>
        <p:spPr>
          <a:xfrm>
            <a:off x="6383821" y="3282795"/>
            <a:ext cx="43941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32"/>
              <a:buFont typeface="Arial"/>
              <a:buNone/>
            </a:pPr>
            <a:r>
              <a:rPr lang="en-US" sz="1832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 coste primario del producto</a:t>
            </a:r>
            <a:endParaRPr sz="1900"/>
          </a:p>
        </p:txBody>
      </p:sp>
      <p:sp>
        <p:nvSpPr>
          <p:cNvPr id="190" name="Google Shape;190;p5"/>
          <p:cNvSpPr/>
          <p:nvPr/>
        </p:nvSpPr>
        <p:spPr>
          <a:xfrm>
            <a:off x="6383821" y="3644665"/>
            <a:ext cx="4717200" cy="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C0BB"/>
              </a:buClr>
              <a:buSzPts val="1119"/>
              <a:buFont typeface="Arial"/>
              <a:buNone/>
            </a:pPr>
            <a:r>
              <a:rPr lang="en-US" sz="1119" b="0">
                <a:solidFill>
                  <a:srgbClr val="A9C0BB"/>
                </a:solidFill>
                <a:latin typeface="Arial"/>
                <a:ea typeface="Arial"/>
                <a:cs typeface="Arial"/>
                <a:sym typeface="Arial"/>
              </a:rPr>
              <a:t>Estudio empírico · 2.229 devoluciones · moda y calzado</a:t>
            </a:r>
            <a:endParaRPr sz="1900"/>
          </a:p>
        </p:txBody>
      </p:sp>
      <p:sp>
        <p:nvSpPr>
          <p:cNvPr id="191" name="Google Shape;191;p5"/>
          <p:cNvSpPr/>
          <p:nvPr/>
        </p:nvSpPr>
        <p:spPr>
          <a:xfrm>
            <a:off x="6383821" y="4058230"/>
            <a:ext cx="43941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D99"/>
              </a:buClr>
              <a:buSzPts val="1323"/>
              <a:buFont typeface="Arial"/>
              <a:buNone/>
            </a:pPr>
            <a:r>
              <a:rPr lang="en-US" sz="1323" b="1">
                <a:solidFill>
                  <a:srgbClr val="00AD99"/>
                </a:solidFill>
                <a:latin typeface="Arial"/>
                <a:ea typeface="Arial"/>
                <a:cs typeface="Arial"/>
                <a:sym typeface="Arial"/>
              </a:rPr>
              <a:t>72 % TRANSPORTE + MANIPULACIÓN</a:t>
            </a:r>
            <a:endParaRPr sz="1900"/>
          </a:p>
        </p:txBody>
      </p:sp>
      <p:sp>
        <p:nvSpPr>
          <p:cNvPr id="192" name="Google Shape;192;p5"/>
          <p:cNvSpPr/>
          <p:nvPr/>
        </p:nvSpPr>
        <p:spPr>
          <a:xfrm>
            <a:off x="6383821" y="4420099"/>
            <a:ext cx="4717200" cy="181200"/>
          </a:xfrm>
          <a:prstGeom prst="roundRect">
            <a:avLst>
              <a:gd name="adj" fmla="val 50000"/>
            </a:avLst>
          </a:prstGeom>
          <a:solidFill>
            <a:srgbClr val="294746"/>
          </a:solidFill>
          <a:ln>
            <a:noFill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6383821" y="4420099"/>
            <a:ext cx="3399000" cy="181200"/>
          </a:xfrm>
          <a:prstGeom prst="roundRect">
            <a:avLst>
              <a:gd name="adj" fmla="val 50000"/>
            </a:avLst>
          </a:prstGeom>
          <a:solidFill>
            <a:srgbClr val="00AD99"/>
          </a:solidFill>
          <a:ln>
            <a:noFill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6383821" y="4730273"/>
            <a:ext cx="47172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C0BB"/>
              </a:buClr>
              <a:buSzPts val="1069"/>
              <a:buFont typeface="Arial"/>
              <a:buNone/>
            </a:pPr>
            <a:r>
              <a:rPr lang="en-US" sz="1069" b="0">
                <a:solidFill>
                  <a:srgbClr val="A9C0BB"/>
                </a:solidFill>
                <a:latin typeface="Arial"/>
                <a:ea typeface="Arial"/>
                <a:cs typeface="Arial"/>
                <a:sym typeface="Arial"/>
              </a:rPr>
              <a:t>El 28 % restante: preparación, almacenamiento y capital inmovilizado.</a:t>
            </a:r>
            <a:endParaRPr sz="1900"/>
          </a:p>
        </p:txBody>
      </p:sp>
      <p:sp>
        <p:nvSpPr>
          <p:cNvPr id="195" name="Google Shape;195;p5"/>
          <p:cNvSpPr/>
          <p:nvPr/>
        </p:nvSpPr>
        <p:spPr>
          <a:xfrm>
            <a:off x="400050" y="5311850"/>
            <a:ext cx="11321400" cy="672000"/>
          </a:xfrm>
          <a:prstGeom prst="rect">
            <a:avLst/>
          </a:prstGeom>
          <a:solidFill>
            <a:srgbClr val="FF5B49"/>
          </a:solidFill>
          <a:ln>
            <a:noFill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748996" y="5466937"/>
            <a:ext cx="106233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5"/>
              <a:buFont typeface="Arial"/>
              <a:buNone/>
            </a:pPr>
            <a:r>
              <a:rPr lang="en-US" sz="144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Casi 1 de cada 5 ventas online puede activar nuevos costes y consumir margen de nuevo.</a:t>
            </a:r>
            <a:endParaRPr sz="1900"/>
          </a:p>
        </p:txBody>
      </p:sp>
      <p:sp>
        <p:nvSpPr>
          <p:cNvPr id="197" name="Google Shape;197;p5"/>
          <p:cNvSpPr/>
          <p:nvPr/>
        </p:nvSpPr>
        <p:spPr>
          <a:xfrm>
            <a:off x="400050" y="6203600"/>
            <a:ext cx="11321400" cy="12900"/>
          </a:xfrm>
          <a:prstGeom prst="rect">
            <a:avLst/>
          </a:prstGeom>
          <a:solidFill>
            <a:srgbClr val="C7D5D1"/>
          </a:solidFill>
          <a:ln>
            <a:noFill/>
          </a:ln>
        </p:spPr>
        <p:txBody>
          <a:bodyPr spcFirstLastPara="1" wrap="square" lIns="124050" tIns="124050" rIns="124050" bIns="124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400050" y="6306991"/>
            <a:ext cx="76254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8782"/>
              </a:buClr>
              <a:buSzPts val="773"/>
              <a:buFont typeface="Arial"/>
              <a:buNone/>
            </a:pPr>
            <a:r>
              <a:rPr lang="en-US" sz="773" b="0">
                <a:solidFill>
                  <a:srgbClr val="718782"/>
                </a:solidFill>
                <a:latin typeface="Arial"/>
                <a:ea typeface="Arial"/>
                <a:cs typeface="Arial"/>
                <a:sym typeface="Arial"/>
              </a:rPr>
              <a:t>Fuentes: NRF &amp; Happy Returns (2025); Gustafsson, Jonsson &amp; Holmström (2021), IJPDLM 51(8).</a:t>
            </a:r>
            <a:endParaRPr sz="1900"/>
          </a:p>
        </p:txBody>
      </p:sp>
      <p:sp>
        <p:nvSpPr>
          <p:cNvPr id="199" name="Google Shape;199;p5"/>
          <p:cNvSpPr/>
          <p:nvPr/>
        </p:nvSpPr>
        <p:spPr>
          <a:xfrm>
            <a:off x="8076853" y="6306991"/>
            <a:ext cx="36447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8782"/>
              </a:buClr>
              <a:buSzPts val="773"/>
              <a:buFont typeface="Arial"/>
              <a:buNone/>
            </a:pPr>
            <a:r>
              <a:rPr lang="en-US" sz="773" b="0">
                <a:solidFill>
                  <a:srgbClr val="718782"/>
                </a:solidFill>
                <a:latin typeface="Arial"/>
                <a:ea typeface="Arial"/>
                <a:cs typeface="Arial"/>
                <a:sym typeface="Arial"/>
              </a:rPr>
              <a:t>Benchmarks de ámbitos distintos; no se combinan en una estimación única.</a:t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"/>
          <p:cNvSpPr txBox="1"/>
          <p:nvPr/>
        </p:nvSpPr>
        <p:spPr>
          <a:xfrm>
            <a:off x="566927" y="457707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PROPUESTA / 01 · ELEVATOR PITCH</a:t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6400800" y="6511036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PROBLEMA · SOLUCIÓN · DIFERENCIAL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566927" y="841247"/>
            <a:ext cx="10789922" cy="787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814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2700"/>
              <a:buFont typeface="Overlock"/>
              <a:buNone/>
            </a:pPr>
            <a:r>
              <a:rPr lang="en-US" sz="2700" b="1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¿Sabías que para una tienda online, </a:t>
            </a:r>
            <a:r>
              <a:rPr lang="en-US" sz="2700" b="1" i="0" u="none" strike="noStrike" cap="none">
                <a:solidFill>
                  <a:srgbClr val="F26302"/>
                </a:solidFill>
                <a:latin typeface="Overlock"/>
                <a:ea typeface="Overlock"/>
                <a:cs typeface="Overlock"/>
                <a:sym typeface="Overlock"/>
              </a:rPr>
              <a:t>vender más</a:t>
            </a:r>
            <a:r>
              <a:rPr lang="en-US" sz="2700" b="1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 puede ser el camino para </a:t>
            </a:r>
            <a:r>
              <a:rPr lang="en-US" sz="2700" b="1" i="0" u="none" strike="noStrike" cap="none">
                <a:solidFill>
                  <a:srgbClr val="F26302"/>
                </a:solidFill>
                <a:latin typeface="Overlock"/>
                <a:ea typeface="Overlock"/>
                <a:cs typeface="Overlock"/>
                <a:sym typeface="Overlock"/>
              </a:rPr>
              <a:t>perder utilidades</a:t>
            </a:r>
            <a:r>
              <a:rPr lang="en-US" sz="2700" b="1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?</a:t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566927" y="2377439"/>
            <a:ext cx="3520442" cy="3566161"/>
          </a:xfrm>
          <a:prstGeom prst="roundRect">
            <a:avLst>
              <a:gd name="adj" fmla="val 2078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841247" y="2670048"/>
            <a:ext cx="1554481" cy="329185"/>
          </a:xfrm>
          <a:prstGeom prst="roundRect">
            <a:avLst>
              <a:gd name="adj" fmla="val 50000"/>
            </a:avLst>
          </a:prstGeom>
          <a:solidFill>
            <a:srgbClr val="15304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841247" y="2766867"/>
            <a:ext cx="1554481" cy="13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/>
          </a:p>
        </p:txBody>
      </p:sp>
      <p:pic>
        <p:nvPicPr>
          <p:cNvPr id="210" name="Google Shape;210;p6" descr="Image 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74135" y="2670048"/>
            <a:ext cx="365761" cy="36576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6"/>
          <p:cNvSpPr txBox="1"/>
          <p:nvPr/>
        </p:nvSpPr>
        <p:spPr>
          <a:xfrm>
            <a:off x="859536" y="3246120"/>
            <a:ext cx="2971801" cy="1500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Cuando un e-commerce escala en Shopify o Marketplaces, no solo crecen sus ingresos; también se disparan las devoluciones, los reclamos y el caos operativo. Al final, lo que debería ser un éxito termina devorando el margen y congelando el inventario.</a:t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4224528" y="2377439"/>
            <a:ext cx="3520441" cy="3566161"/>
          </a:xfrm>
          <a:prstGeom prst="roundRect">
            <a:avLst>
              <a:gd name="adj" fmla="val 2078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498847" y="2670048"/>
            <a:ext cx="1554481" cy="329185"/>
          </a:xfrm>
          <a:prstGeom prst="roundRect">
            <a:avLst>
              <a:gd name="adj" fmla="val 50000"/>
            </a:avLst>
          </a:prstGeom>
          <a:solidFill>
            <a:srgbClr val="F2630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4498847" y="2766867"/>
            <a:ext cx="1554481" cy="13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/>
          </a:p>
        </p:txBody>
      </p:sp>
      <p:pic>
        <p:nvPicPr>
          <p:cNvPr id="215" name="Google Shape;215;p6" descr="Image 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31735" y="2670048"/>
            <a:ext cx="365761" cy="36576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"/>
          <p:cNvSpPr txBox="1"/>
          <p:nvPr/>
        </p:nvSpPr>
        <p:spPr>
          <a:xfrm>
            <a:off x="4517135" y="3246120"/>
            <a:ext cx="29718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53047"/>
                </a:solidFill>
              </a:rPr>
              <a:t>PredictiFlow </a:t>
            </a:r>
            <a:r>
              <a:rPr lang="en-US" sz="1200">
                <a:solidFill>
                  <a:srgbClr val="153047"/>
                </a:solidFill>
              </a:rPr>
              <a:t>analiza con </a:t>
            </a:r>
            <a:r>
              <a:rPr lang="en-US" sz="12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IA los patrones de compra y de cada pedido para anticipar el riesgo de devolución antes del despacho, convirtiendo datos en alertas accionables para el equipo.</a:t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7882128" y="2377439"/>
            <a:ext cx="3520441" cy="3566161"/>
          </a:xfrm>
          <a:prstGeom prst="roundRect">
            <a:avLst>
              <a:gd name="adj" fmla="val 2078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8156447" y="2670048"/>
            <a:ext cx="1554481" cy="329185"/>
          </a:xfrm>
          <a:prstGeom prst="roundRect">
            <a:avLst>
              <a:gd name="adj" fmla="val 50000"/>
            </a:avLst>
          </a:prstGeom>
          <a:solidFill>
            <a:srgbClr val="1F7A5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8156447" y="2766867"/>
            <a:ext cx="1554481" cy="13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DIFERENCIAL</a:t>
            </a:r>
            <a:endParaRPr/>
          </a:p>
        </p:txBody>
      </p:sp>
      <p:pic>
        <p:nvPicPr>
          <p:cNvPr id="220" name="Google Shape;220;p6" descr="Image 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89335" y="2670048"/>
            <a:ext cx="365761" cy="36576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6"/>
          <p:cNvSpPr txBox="1"/>
          <p:nvPr/>
        </p:nvSpPr>
        <p:spPr>
          <a:xfrm>
            <a:off x="8174735" y="3246120"/>
            <a:ext cx="29718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A diferencia de las herramientas tradicionales, </a:t>
            </a:r>
            <a:r>
              <a:rPr lang="en-US" sz="1200">
                <a:solidFill>
                  <a:srgbClr val="153047"/>
                </a:solidFill>
              </a:rPr>
              <a:t>detecta </a:t>
            </a:r>
            <a:r>
              <a:rPr lang="en-US" sz="12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el riesgo a tiempo y </a:t>
            </a:r>
            <a:r>
              <a:rPr lang="en-US" sz="1200">
                <a:solidFill>
                  <a:srgbClr val="153047"/>
                </a:solidFill>
              </a:rPr>
              <a:t>permite </a:t>
            </a:r>
            <a:r>
              <a:rPr lang="en-US" sz="12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decisiones preventivas antes del despacho, reduciendo drásticamente los costos de logística inversa.</a:t>
            </a:r>
            <a:endParaRPr/>
          </a:p>
        </p:txBody>
      </p:sp>
      <p:pic>
        <p:nvPicPr>
          <p:cNvPr id="222" name="Google Shape;222;p6" descr="Google Shape;39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"/>
          <p:cNvSpPr txBox="1"/>
          <p:nvPr/>
        </p:nvSpPr>
        <p:spPr>
          <a:xfrm>
            <a:off x="566927" y="457708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PROPUESTA / 02 · PRODUCT BOX</a:t>
            </a:r>
            <a:endParaRPr/>
          </a:p>
        </p:txBody>
      </p:sp>
      <p:sp>
        <p:nvSpPr>
          <p:cNvPr id="228" name="Google Shape;228;p7"/>
          <p:cNvSpPr txBox="1"/>
          <p:nvPr/>
        </p:nvSpPr>
        <p:spPr>
          <a:xfrm>
            <a:off x="6400800" y="6511035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DEJA DE REACCIONAR · EMPIEZA A PREVENIR</a:t>
            </a:r>
            <a:endParaRPr/>
          </a:p>
        </p:txBody>
      </p:sp>
      <p:pic>
        <p:nvPicPr>
          <p:cNvPr id="229" name="Google Shape;229;p7" descr="Google Shape;3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7" descr="Google Shape;8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7"/>
          <p:cNvSpPr/>
          <p:nvPr/>
        </p:nvSpPr>
        <p:spPr>
          <a:xfrm>
            <a:off x="5113537" y="4341181"/>
            <a:ext cx="2956266" cy="1233997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527939" y="885305"/>
            <a:ext cx="4548116" cy="639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2500"/>
              <a:buFont typeface="Overlock"/>
              <a:buNone/>
            </a:pPr>
            <a:r>
              <a:rPr lang="en-US" sz="2500" b="0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¿Dónde actúa Predict</a:t>
            </a:r>
            <a:r>
              <a:rPr lang="en-US" sz="2500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i</a:t>
            </a:r>
            <a:r>
              <a:rPr lang="en-US" sz="2500" b="0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Flow?</a:t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572324" y="1465749"/>
            <a:ext cx="5648947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r>
              <a:rPr lang="en-US" sz="18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reaccionar tarde </a:t>
            </a:r>
            <a:r>
              <a:rPr lang="en-US" sz="18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a prevenir antes del despacho</a:t>
            </a:r>
            <a:endParaRPr/>
          </a:p>
        </p:txBody>
      </p:sp>
      <p:pic>
        <p:nvPicPr>
          <p:cNvPr id="234" name="Google Shape;234;p7" descr="Google Shape;8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87911" y="1893162"/>
            <a:ext cx="8383679" cy="4243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 txBox="1"/>
          <p:nvPr/>
        </p:nvSpPr>
        <p:spPr>
          <a:xfrm>
            <a:off x="566927" y="457708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PROPUESTA / 02 · PRODUCT BOX</a:t>
            </a:r>
            <a:endParaRPr/>
          </a:p>
        </p:txBody>
      </p:sp>
      <p:sp>
        <p:nvSpPr>
          <p:cNvPr id="240" name="Google Shape;240;p9"/>
          <p:cNvSpPr txBox="1"/>
          <p:nvPr/>
        </p:nvSpPr>
        <p:spPr>
          <a:xfrm>
            <a:off x="6400800" y="6511035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DEJA DE REACCIONAR · EMPIEZA A PREVENIR</a:t>
            </a:r>
            <a:endParaRPr/>
          </a:p>
        </p:txBody>
      </p:sp>
      <p:pic>
        <p:nvPicPr>
          <p:cNvPr id="241" name="Google Shape;241;p9" descr="Google Shape;3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9" descr="Google Shape;8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/>
          <p:nvPr/>
        </p:nvSpPr>
        <p:spPr>
          <a:xfrm>
            <a:off x="5113537" y="4341181"/>
            <a:ext cx="2956266" cy="1233997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 txBox="1"/>
          <p:nvPr/>
        </p:nvSpPr>
        <p:spPr>
          <a:xfrm>
            <a:off x="566038" y="887465"/>
            <a:ext cx="5338229" cy="639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2500"/>
              <a:buFont typeface="Overlock"/>
              <a:buNone/>
            </a:pPr>
            <a:r>
              <a:rPr lang="en-US" sz="2500" b="0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¿Cómo actúa PredictiFlow ?  </a:t>
            </a:r>
            <a:endParaRPr/>
          </a:p>
        </p:txBody>
      </p:sp>
      <p:pic>
        <p:nvPicPr>
          <p:cNvPr id="245" name="Google Shape;245;p9" descr="Google Shape;10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90493" y="1493787"/>
            <a:ext cx="9855514" cy="4831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 txBox="1"/>
          <p:nvPr/>
        </p:nvSpPr>
        <p:spPr>
          <a:xfrm>
            <a:off x="566927" y="457708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PROPUESTA / 02 · PRODUCT BOX</a:t>
            </a:r>
            <a:endParaRPr/>
          </a:p>
        </p:txBody>
      </p:sp>
      <p:sp>
        <p:nvSpPr>
          <p:cNvPr id="251" name="Google Shape;251;p10"/>
          <p:cNvSpPr txBox="1"/>
          <p:nvPr/>
        </p:nvSpPr>
        <p:spPr>
          <a:xfrm>
            <a:off x="6400800" y="6511035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DEJA DE REACCIONAR · EMPIEZA A PREVENIR</a:t>
            </a:r>
            <a:endParaRPr/>
          </a:p>
        </p:txBody>
      </p:sp>
      <p:pic>
        <p:nvPicPr>
          <p:cNvPr id="252" name="Google Shape;252;p10" descr="Google Shape;3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0" descr="Google Shape;8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0"/>
          <p:cNvSpPr/>
          <p:nvPr/>
        </p:nvSpPr>
        <p:spPr>
          <a:xfrm>
            <a:off x="5113537" y="4341181"/>
            <a:ext cx="2956266" cy="1233997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 txBox="1"/>
          <p:nvPr/>
        </p:nvSpPr>
        <p:spPr>
          <a:xfrm>
            <a:off x="566038" y="887465"/>
            <a:ext cx="5338229" cy="639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2500"/>
              <a:buFont typeface="Overlock"/>
              <a:buNone/>
            </a:pPr>
            <a:r>
              <a:rPr lang="en-US" sz="2500" b="0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¿Cómo actúa PredictiFlow ?  </a:t>
            </a:r>
            <a:endParaRPr/>
          </a:p>
        </p:txBody>
      </p:sp>
      <p:pic>
        <p:nvPicPr>
          <p:cNvPr id="256" name="Google Shape;256;p10" descr="Google Shape;1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81946" y="1391792"/>
            <a:ext cx="9228108" cy="497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"/>
          <p:cNvSpPr txBox="1"/>
          <p:nvPr/>
        </p:nvSpPr>
        <p:spPr>
          <a:xfrm>
            <a:off x="566927" y="457708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PROPUESTA / 02 · PRODUCT BOX</a:t>
            </a:r>
            <a:endParaRPr/>
          </a:p>
        </p:txBody>
      </p:sp>
      <p:sp>
        <p:nvSpPr>
          <p:cNvPr id="262" name="Google Shape;262;p11"/>
          <p:cNvSpPr txBox="1"/>
          <p:nvPr/>
        </p:nvSpPr>
        <p:spPr>
          <a:xfrm>
            <a:off x="6400800" y="6511035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DEJA DE REACCIONAR · EMPIEZA A PREVENIR</a:t>
            </a:r>
            <a:endParaRPr/>
          </a:p>
        </p:txBody>
      </p:sp>
      <p:pic>
        <p:nvPicPr>
          <p:cNvPr id="263" name="Google Shape;263;p11" descr="Google Shape;3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1" descr="Google Shape;8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1"/>
          <p:cNvSpPr/>
          <p:nvPr/>
        </p:nvSpPr>
        <p:spPr>
          <a:xfrm>
            <a:off x="5113537" y="4341181"/>
            <a:ext cx="2956266" cy="1233997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1"/>
          <p:cNvSpPr txBox="1"/>
          <p:nvPr/>
        </p:nvSpPr>
        <p:spPr>
          <a:xfrm>
            <a:off x="566038" y="887465"/>
            <a:ext cx="5338229" cy="639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2500"/>
              <a:buFont typeface="Overlock"/>
              <a:buNone/>
            </a:pPr>
            <a:r>
              <a:rPr lang="en-US" sz="2500" b="0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PredictiFlow se resumen en: </a:t>
            </a:r>
            <a:endParaRPr/>
          </a:p>
        </p:txBody>
      </p:sp>
      <p:pic>
        <p:nvPicPr>
          <p:cNvPr id="267" name="Google Shape;267;p11" descr="Google Shape;12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4631" y="1671192"/>
            <a:ext cx="9382738" cy="4584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/>
        </p:nvSpPr>
        <p:spPr>
          <a:xfrm>
            <a:off x="566927" y="457708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PROPUESTA / 02 · PRODUCT BOX</a:t>
            </a:r>
            <a:endParaRPr/>
          </a:p>
        </p:txBody>
      </p:sp>
      <p:sp>
        <p:nvSpPr>
          <p:cNvPr id="273" name="Google Shape;273;p12"/>
          <p:cNvSpPr txBox="1"/>
          <p:nvPr/>
        </p:nvSpPr>
        <p:spPr>
          <a:xfrm>
            <a:off x="6400800" y="6511035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DEJA DE REACCIONAR · EMPIEZA A PREVENIR</a:t>
            </a:r>
            <a:endParaRPr/>
          </a:p>
        </p:txBody>
      </p:sp>
      <p:pic>
        <p:nvPicPr>
          <p:cNvPr id="274" name="Google Shape;274;p12" descr="Google Shape;3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2" descr="PRODUCT_BO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16052" y="1042272"/>
            <a:ext cx="8481634" cy="477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13" descr="Google Shape;13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3"/>
          <p:cNvSpPr/>
          <p:nvPr/>
        </p:nvSpPr>
        <p:spPr>
          <a:xfrm>
            <a:off x="366943" y="6196614"/>
            <a:ext cx="11458114" cy="532867"/>
          </a:xfrm>
          <a:prstGeom prst="rect">
            <a:avLst/>
          </a:prstGeom>
          <a:solidFill>
            <a:srgbClr val="F7F1E8"/>
          </a:solidFill>
          <a:ln w="12700" cap="flat" cmpd="sng">
            <a:solidFill>
              <a:srgbClr val="F7F1E8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5113537" y="4341181"/>
            <a:ext cx="2956265" cy="1233997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13" descr="Google Shape;13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45815" y="1080610"/>
            <a:ext cx="8618601" cy="479838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3"/>
          <p:cNvSpPr txBox="1"/>
          <p:nvPr/>
        </p:nvSpPr>
        <p:spPr>
          <a:xfrm>
            <a:off x="566927" y="457708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MVP / 01 · DEFINICIÓN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 txBox="1"/>
          <p:nvPr/>
        </p:nvSpPr>
        <p:spPr>
          <a:xfrm>
            <a:off x="566927" y="457707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MVP / 02 · NOT LIST</a:t>
            </a:r>
            <a:endParaRPr/>
          </a:p>
        </p:txBody>
      </p:sp>
      <p:sp>
        <p:nvSpPr>
          <p:cNvPr id="290" name="Google Shape;290;p14"/>
          <p:cNvSpPr txBox="1"/>
          <p:nvPr/>
        </p:nvSpPr>
        <p:spPr>
          <a:xfrm>
            <a:off x="6400800" y="6511036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ALCANCE DEL PRODUCTO</a:t>
            </a:r>
            <a:endParaRPr/>
          </a:p>
        </p:txBody>
      </p:sp>
      <p:sp>
        <p:nvSpPr>
          <p:cNvPr id="291" name="Google Shape;291;p14"/>
          <p:cNvSpPr txBox="1"/>
          <p:nvPr/>
        </p:nvSpPr>
        <p:spPr>
          <a:xfrm>
            <a:off x="566927" y="749807"/>
            <a:ext cx="10058401" cy="33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2500"/>
              <a:buFont typeface="Overlock"/>
              <a:buNone/>
            </a:pPr>
            <a:r>
              <a:rPr lang="en-US" sz="2500" b="1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Qué resolvemos y qué queda fuera</a:t>
            </a:r>
            <a:endParaRPr/>
          </a:p>
        </p:txBody>
      </p:sp>
      <p:pic>
        <p:nvPicPr>
          <p:cNvPr id="292" name="Google Shape;292;p14" descr="Google Shape;14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5428" y="1669411"/>
            <a:ext cx="8481144" cy="4479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4" descr="Google Shape;3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"/>
          <p:cNvSpPr txBox="1"/>
          <p:nvPr/>
        </p:nvSpPr>
        <p:spPr>
          <a:xfrm>
            <a:off x="566927" y="457708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MVP / 03 · FUNCIONALIDADES</a:t>
            </a:r>
            <a:endParaRPr/>
          </a:p>
        </p:txBody>
      </p:sp>
      <p:sp>
        <p:nvSpPr>
          <p:cNvPr id="299" name="Google Shape;299;p15"/>
          <p:cNvSpPr txBox="1"/>
          <p:nvPr/>
        </p:nvSpPr>
        <p:spPr>
          <a:xfrm>
            <a:off x="6400800" y="6511035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ALCANCE DEL PRODUCTO</a:t>
            </a:r>
            <a:endParaRPr/>
          </a:p>
        </p:txBody>
      </p:sp>
      <p:sp>
        <p:nvSpPr>
          <p:cNvPr id="300" name="Google Shape;300;p15"/>
          <p:cNvSpPr/>
          <p:nvPr/>
        </p:nvSpPr>
        <p:spPr>
          <a:xfrm>
            <a:off x="5115097" y="4713268"/>
            <a:ext cx="2956265" cy="1233997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586919" y="2213596"/>
            <a:ext cx="2651401" cy="1883161"/>
          </a:xfrm>
          <a:prstGeom prst="roundRect">
            <a:avLst>
              <a:gd name="adj" fmla="val 3883"/>
            </a:avLst>
          </a:prstGeom>
          <a:solidFill>
            <a:srgbClr val="FFFDF9"/>
          </a:solidFill>
          <a:ln w="9525" cap="flat" cmpd="sng">
            <a:solidFill>
              <a:srgbClr val="D8CD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751439" y="2442196"/>
            <a:ext cx="475201" cy="475201"/>
          </a:xfrm>
          <a:prstGeom prst="ellipse">
            <a:avLst/>
          </a:prstGeom>
          <a:solidFill>
            <a:srgbClr val="F26302"/>
          </a:solidFill>
          <a:ln w="12700" cap="flat" cmpd="sng">
            <a:solidFill>
              <a:srgbClr val="DCE7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15" descr="Google Shape;17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4919" y="2560996"/>
            <a:ext cx="227881" cy="22788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5"/>
          <p:cNvSpPr txBox="1"/>
          <p:nvPr/>
        </p:nvSpPr>
        <p:spPr>
          <a:xfrm>
            <a:off x="1313749" y="2568824"/>
            <a:ext cx="1481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/>
          </a:p>
        </p:txBody>
      </p:sp>
      <p:sp>
        <p:nvSpPr>
          <p:cNvPr id="305" name="Google Shape;305;p15"/>
          <p:cNvSpPr txBox="1"/>
          <p:nvPr/>
        </p:nvSpPr>
        <p:spPr>
          <a:xfrm>
            <a:off x="769799" y="3027556"/>
            <a:ext cx="2423161" cy="80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945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21945"/>
                </a:solidFill>
                <a:latin typeface="Arial"/>
                <a:ea typeface="Arial"/>
                <a:cs typeface="Arial"/>
                <a:sym typeface="Arial"/>
              </a:rPr>
              <a:t>Las devoluciones y reclamos erosionan el margen a medida que crecen las ventas.</a:t>
            </a:r>
            <a:endParaRPr/>
          </a:p>
        </p:txBody>
      </p:sp>
      <p:sp>
        <p:nvSpPr>
          <p:cNvPr id="306" name="Google Shape;306;p15"/>
          <p:cNvSpPr/>
          <p:nvPr/>
        </p:nvSpPr>
        <p:spPr>
          <a:xfrm>
            <a:off x="3375839" y="2213596"/>
            <a:ext cx="2651401" cy="1883161"/>
          </a:xfrm>
          <a:prstGeom prst="roundRect">
            <a:avLst>
              <a:gd name="adj" fmla="val 3883"/>
            </a:avLst>
          </a:prstGeom>
          <a:solidFill>
            <a:srgbClr val="F4D7C7"/>
          </a:solidFill>
          <a:ln w="9525" cap="flat" cmpd="sng">
            <a:solidFill>
              <a:srgbClr val="F4D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3540359" y="2442196"/>
            <a:ext cx="475201" cy="475201"/>
          </a:xfrm>
          <a:prstGeom prst="ellipse">
            <a:avLst/>
          </a:prstGeom>
          <a:solidFill>
            <a:srgbClr val="F26302"/>
          </a:solidFill>
          <a:ln w="12700" cap="flat" cmpd="sng">
            <a:solidFill>
              <a:srgbClr val="DCE7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15" descr="Google Shape;17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63839" y="2560996"/>
            <a:ext cx="227881" cy="22788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5"/>
          <p:cNvSpPr txBox="1"/>
          <p:nvPr/>
        </p:nvSpPr>
        <p:spPr>
          <a:xfrm>
            <a:off x="4105019" y="2580999"/>
            <a:ext cx="1481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5E3B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45E3B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/>
          </a:p>
        </p:txBody>
      </p:sp>
      <p:sp>
        <p:nvSpPr>
          <p:cNvPr id="310" name="Google Shape;310;p15"/>
          <p:cNvSpPr txBox="1"/>
          <p:nvPr/>
        </p:nvSpPr>
        <p:spPr>
          <a:xfrm>
            <a:off x="3558719" y="3027556"/>
            <a:ext cx="2285641" cy="75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945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21945"/>
                </a:solidFill>
                <a:latin typeface="Arial"/>
                <a:ea typeface="Arial"/>
                <a:cs typeface="Arial"/>
                <a:sym typeface="Arial"/>
              </a:rPr>
              <a:t>Analizar pedidos y patrones para anticipar riesgo antes del despacho.</a:t>
            </a:r>
            <a:endParaRPr/>
          </a:p>
        </p:txBody>
      </p:sp>
      <p:sp>
        <p:nvSpPr>
          <p:cNvPr id="311" name="Google Shape;311;p15"/>
          <p:cNvSpPr/>
          <p:nvPr/>
        </p:nvSpPr>
        <p:spPr>
          <a:xfrm>
            <a:off x="6164760" y="2213596"/>
            <a:ext cx="2651401" cy="1883161"/>
          </a:xfrm>
          <a:prstGeom prst="roundRect">
            <a:avLst>
              <a:gd name="adj" fmla="val 3883"/>
            </a:avLst>
          </a:prstGeom>
          <a:solidFill>
            <a:srgbClr val="FFFDF9"/>
          </a:solidFill>
          <a:ln w="9525" cap="flat" cmpd="sng">
            <a:solidFill>
              <a:srgbClr val="D8CD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6329279" y="2442196"/>
            <a:ext cx="475201" cy="475201"/>
          </a:xfrm>
          <a:prstGeom prst="ellipse">
            <a:avLst/>
          </a:prstGeom>
          <a:solidFill>
            <a:srgbClr val="F26302"/>
          </a:solidFill>
          <a:ln w="12700" cap="flat" cmpd="sng">
            <a:solidFill>
              <a:srgbClr val="DCE7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15" descr="Google Shape;18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52759" y="2560996"/>
            <a:ext cx="227881" cy="22788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5"/>
          <p:cNvSpPr txBox="1"/>
          <p:nvPr/>
        </p:nvSpPr>
        <p:spPr>
          <a:xfrm>
            <a:off x="6893939" y="2593174"/>
            <a:ext cx="1481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BENEFICIO</a:t>
            </a:r>
            <a:endParaRPr/>
          </a:p>
        </p:txBody>
      </p:sp>
      <p:sp>
        <p:nvSpPr>
          <p:cNvPr id="315" name="Google Shape;315;p15"/>
          <p:cNvSpPr txBox="1"/>
          <p:nvPr/>
        </p:nvSpPr>
        <p:spPr>
          <a:xfrm>
            <a:off x="6347639" y="3027556"/>
            <a:ext cx="2285641" cy="75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386"/>
              <a:buFont typeface="Arial"/>
              <a:buNone/>
            </a:pPr>
            <a:r>
              <a:rPr lang="en-US" sz="1386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Evitar costos prevenibles, liberar al equipo y mantener stock disponible.</a:t>
            </a: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8953680" y="2213596"/>
            <a:ext cx="2651401" cy="1883161"/>
          </a:xfrm>
          <a:prstGeom prst="roundRect">
            <a:avLst>
              <a:gd name="adj" fmla="val 3883"/>
            </a:avLst>
          </a:prstGeom>
          <a:solidFill>
            <a:srgbClr val="FFFDF9"/>
          </a:solidFill>
          <a:ln w="9525" cap="flat" cmpd="sng">
            <a:solidFill>
              <a:srgbClr val="D8CD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9118199" y="2442196"/>
            <a:ext cx="475201" cy="475201"/>
          </a:xfrm>
          <a:prstGeom prst="ellipse">
            <a:avLst/>
          </a:prstGeom>
          <a:solidFill>
            <a:srgbClr val="F26302"/>
          </a:solidFill>
          <a:ln w="12700" cap="flat" cmpd="sng">
            <a:solidFill>
              <a:srgbClr val="DCE7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15" descr="Google Shape;188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41679" y="2560996"/>
            <a:ext cx="227881" cy="22788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5"/>
          <p:cNvSpPr txBox="1"/>
          <p:nvPr/>
        </p:nvSpPr>
        <p:spPr>
          <a:xfrm>
            <a:off x="9682884" y="2563961"/>
            <a:ext cx="1481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VIABILIDAD</a:t>
            </a:r>
            <a:endParaRPr/>
          </a:p>
        </p:txBody>
      </p:sp>
      <p:sp>
        <p:nvSpPr>
          <p:cNvPr id="320" name="Google Shape;320;p15"/>
          <p:cNvSpPr txBox="1"/>
          <p:nvPr/>
        </p:nvSpPr>
        <p:spPr>
          <a:xfrm>
            <a:off x="9136559" y="3027556"/>
            <a:ext cx="2285641" cy="75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372"/>
              <a:buFont typeface="Arial"/>
              <a:buNone/>
            </a:pPr>
            <a:r>
              <a:rPr lang="en-US" sz="1372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MVP acotado, estimado en 10 semanas, con integración pasiva y piloto real.</a:t>
            </a: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586919" y="4420257"/>
            <a:ext cx="11018161" cy="1434925"/>
          </a:xfrm>
          <a:prstGeom prst="roundRect">
            <a:avLst>
              <a:gd name="adj" fmla="val 3960"/>
            </a:avLst>
          </a:prstGeom>
          <a:solidFill>
            <a:srgbClr val="D8E2F3"/>
          </a:solidFill>
          <a:ln w="9525" cap="flat" cmpd="sng">
            <a:solidFill>
              <a:srgbClr val="153047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402" dir="2700000" rotWithShape="0">
              <a:srgbClr val="B7AA9C">
                <a:alpha val="14901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5"/>
          <p:cNvSpPr txBox="1"/>
          <p:nvPr/>
        </p:nvSpPr>
        <p:spPr>
          <a:xfrm>
            <a:off x="1313756" y="4672953"/>
            <a:ext cx="2057041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PETICIONES</a:t>
            </a:r>
            <a:endParaRPr/>
          </a:p>
        </p:txBody>
      </p:sp>
      <p:pic>
        <p:nvPicPr>
          <p:cNvPr id="323" name="Google Shape;323;p15" descr="Google Shape;193;p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74599" y="4636756"/>
            <a:ext cx="173521" cy="17352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5"/>
          <p:cNvSpPr txBox="1"/>
          <p:nvPr/>
        </p:nvSpPr>
        <p:spPr>
          <a:xfrm>
            <a:off x="3457919" y="4609396"/>
            <a:ext cx="7589161" cy="228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945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2194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 b="1" i="0" u="none" strike="noStrike" cap="none">
                <a:solidFill>
                  <a:srgbClr val="021945"/>
                </a:solidFill>
                <a:latin typeface="Arial"/>
                <a:ea typeface="Arial"/>
                <a:cs typeface="Arial"/>
                <a:sym typeface="Arial"/>
              </a:rPr>
              <a:t>Acceso controlado a pedidos, devoluciones y motivos históricos</a:t>
            </a:r>
            <a:r>
              <a:rPr lang="en-US" sz="1000" b="1" i="0" u="none" strike="noStrike" cap="none">
                <a:solidFill>
                  <a:srgbClr val="02194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325" name="Google Shape;325;p15" descr="Google Shape;195;p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74599" y="4993516"/>
            <a:ext cx="173521" cy="17352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5"/>
          <p:cNvSpPr txBox="1"/>
          <p:nvPr/>
        </p:nvSpPr>
        <p:spPr>
          <a:xfrm>
            <a:off x="3457919" y="4966156"/>
            <a:ext cx="7589161" cy="228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945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2194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 b="1" i="0" u="none" strike="noStrike" cap="none">
                <a:solidFill>
                  <a:srgbClr val="021945"/>
                </a:solidFill>
                <a:latin typeface="Arial"/>
                <a:ea typeface="Arial"/>
                <a:cs typeface="Arial"/>
                <a:sym typeface="Arial"/>
              </a:rPr>
              <a:t>Designar sponsor operativo y responsable técnico.</a:t>
            </a:r>
            <a:endParaRPr/>
          </a:p>
        </p:txBody>
      </p:sp>
      <p:pic>
        <p:nvPicPr>
          <p:cNvPr id="327" name="Google Shape;327;p15" descr="Google Shape;197;p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74599" y="5349916"/>
            <a:ext cx="173521" cy="17352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 txBox="1"/>
          <p:nvPr/>
        </p:nvSpPr>
        <p:spPr>
          <a:xfrm>
            <a:off x="3457919" y="5322556"/>
            <a:ext cx="7589161" cy="228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945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2194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 b="1" i="0" u="none" strike="noStrike" cap="none">
                <a:solidFill>
                  <a:srgbClr val="021945"/>
                </a:solidFill>
                <a:latin typeface="Arial"/>
                <a:ea typeface="Arial"/>
                <a:cs typeface="Arial"/>
                <a:sym typeface="Arial"/>
              </a:rPr>
              <a:t>Aprobar la selección de 5–10 tiendas para el piloto.</a:t>
            </a:r>
            <a:endParaRPr/>
          </a:p>
        </p:txBody>
      </p:sp>
      <p:sp>
        <p:nvSpPr>
          <p:cNvPr id="329" name="Google Shape;329;p15"/>
          <p:cNvSpPr txBox="1"/>
          <p:nvPr/>
        </p:nvSpPr>
        <p:spPr>
          <a:xfrm>
            <a:off x="571198" y="1125012"/>
            <a:ext cx="8622963" cy="525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Una </a:t>
            </a:r>
            <a:r>
              <a:rPr lang="en-US" sz="18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solución viable para anticipar riesgos antes del despacho, </a:t>
            </a:r>
            <a:r>
              <a:rPr lang="en-US" sz="18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validada con datos históricos y pedidos reales.</a:t>
            </a:r>
            <a:endParaRPr/>
          </a:p>
        </p:txBody>
      </p:sp>
      <p:pic>
        <p:nvPicPr>
          <p:cNvPr id="330" name="Google Shape;330;p15" descr="Google Shape;39;p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6"/>
          <p:cNvSpPr txBox="1"/>
          <p:nvPr/>
        </p:nvSpPr>
        <p:spPr>
          <a:xfrm>
            <a:off x="566927" y="457708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MVP / 04 · PLAN DE EJECUCIÓN </a:t>
            </a:r>
            <a:endParaRPr/>
          </a:p>
        </p:txBody>
      </p:sp>
      <p:sp>
        <p:nvSpPr>
          <p:cNvPr id="336" name="Google Shape;336;p16"/>
          <p:cNvSpPr txBox="1"/>
          <p:nvPr/>
        </p:nvSpPr>
        <p:spPr>
          <a:xfrm>
            <a:off x="6400800" y="6511035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ALCANCE DEL PRODUCTO</a:t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571198" y="991127"/>
            <a:ext cx="8622963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De los datos al piloto en 10 semanas</a:t>
            </a:r>
            <a:endParaRPr/>
          </a:p>
        </p:txBody>
      </p:sp>
      <p:pic>
        <p:nvPicPr>
          <p:cNvPr id="338" name="Google Shape;338;p16" descr="Google Shape;20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6253" y="4338624"/>
            <a:ext cx="5676154" cy="1981661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6"/>
          <p:cNvSpPr/>
          <p:nvPr/>
        </p:nvSpPr>
        <p:spPr>
          <a:xfrm>
            <a:off x="475246" y="2175123"/>
            <a:ext cx="2344599" cy="3405268"/>
          </a:xfrm>
          <a:prstGeom prst="roundRect">
            <a:avLst>
              <a:gd name="adj" fmla="val 2564"/>
            </a:avLst>
          </a:prstGeom>
          <a:solidFill>
            <a:srgbClr val="D8E2F3"/>
          </a:solidFill>
          <a:ln w="9525" cap="flat" cmpd="sng">
            <a:solidFill>
              <a:srgbClr val="1530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6"/>
          <p:cNvSpPr txBox="1"/>
          <p:nvPr/>
        </p:nvSpPr>
        <p:spPr>
          <a:xfrm>
            <a:off x="788406" y="2252440"/>
            <a:ext cx="1782722" cy="65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4560"/>
              <a:buFont typeface="Arial"/>
              <a:buNone/>
            </a:pPr>
            <a:r>
              <a:rPr lang="en-US" sz="456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41" name="Google Shape;341;p16"/>
          <p:cNvSpPr txBox="1"/>
          <p:nvPr/>
        </p:nvSpPr>
        <p:spPr>
          <a:xfrm>
            <a:off x="770046" y="2938240"/>
            <a:ext cx="1810081" cy="259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Semanas</a:t>
            </a:r>
            <a:endParaRPr/>
          </a:p>
        </p:txBody>
      </p:sp>
      <p:cxnSp>
        <p:nvCxnSpPr>
          <p:cNvPr id="342" name="Google Shape;342;p16"/>
          <p:cNvCxnSpPr/>
          <p:nvPr/>
        </p:nvCxnSpPr>
        <p:spPr>
          <a:xfrm>
            <a:off x="714965" y="3263283"/>
            <a:ext cx="1865161" cy="360"/>
          </a:xfrm>
          <a:prstGeom prst="straightConnector1">
            <a:avLst/>
          </a:prstGeom>
          <a:noFill/>
          <a:ln w="13925" cap="flat" cmpd="sng">
            <a:solidFill>
              <a:srgbClr val="274B6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3" name="Google Shape;343;p16"/>
          <p:cNvSpPr txBox="1"/>
          <p:nvPr/>
        </p:nvSpPr>
        <p:spPr>
          <a:xfrm>
            <a:off x="559625" y="3406715"/>
            <a:ext cx="2175841" cy="383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945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21945"/>
                </a:solidFill>
                <a:latin typeface="Arial"/>
                <a:ea typeface="Arial"/>
                <a:cs typeface="Arial"/>
                <a:sym typeface="Arial"/>
              </a:rPr>
              <a:t>30–40k €</a:t>
            </a:r>
            <a:endParaRPr/>
          </a:p>
        </p:txBody>
      </p:sp>
      <p:sp>
        <p:nvSpPr>
          <p:cNvPr id="344" name="Google Shape;344;p16"/>
          <p:cNvSpPr txBox="1"/>
          <p:nvPr/>
        </p:nvSpPr>
        <p:spPr>
          <a:xfrm>
            <a:off x="715918" y="3786524"/>
            <a:ext cx="1865161" cy="5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Inversión estimada</a:t>
            </a:r>
            <a:endParaRPr/>
          </a:p>
        </p:txBody>
      </p:sp>
      <p:cxnSp>
        <p:nvCxnSpPr>
          <p:cNvPr id="345" name="Google Shape;345;p16"/>
          <p:cNvCxnSpPr/>
          <p:nvPr/>
        </p:nvCxnSpPr>
        <p:spPr>
          <a:xfrm>
            <a:off x="714965" y="4555329"/>
            <a:ext cx="1865161" cy="361"/>
          </a:xfrm>
          <a:prstGeom prst="straightConnector1">
            <a:avLst/>
          </a:prstGeom>
          <a:noFill/>
          <a:ln w="13925" cap="flat" cmpd="sng">
            <a:solidFill>
              <a:srgbClr val="274B6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6" name="Google Shape;346;p16"/>
          <p:cNvSpPr txBox="1"/>
          <p:nvPr/>
        </p:nvSpPr>
        <p:spPr>
          <a:xfrm>
            <a:off x="559625" y="4736772"/>
            <a:ext cx="2175841" cy="310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5–10 tiendas</a:t>
            </a:r>
            <a:endParaRPr/>
          </a:p>
        </p:txBody>
      </p:sp>
      <p:sp>
        <p:nvSpPr>
          <p:cNvPr id="347" name="Google Shape;347;p16"/>
          <p:cNvSpPr txBox="1"/>
          <p:nvPr/>
        </p:nvSpPr>
        <p:spPr>
          <a:xfrm>
            <a:off x="559625" y="5197454"/>
            <a:ext cx="2175841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12 meses de datos</a:t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3394130" y="1509462"/>
            <a:ext cx="7872480" cy="2788561"/>
          </a:xfrm>
          <a:prstGeom prst="roundRect">
            <a:avLst>
              <a:gd name="adj" fmla="val 2623"/>
            </a:avLst>
          </a:prstGeom>
          <a:solidFill>
            <a:srgbClr val="FFFDF9"/>
          </a:solidFill>
          <a:ln w="9525" cap="flat" cmpd="sng">
            <a:solidFill>
              <a:srgbClr val="D8CDB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402" dir="2700000" rotWithShape="0">
              <a:srgbClr val="B7AA9C">
                <a:alpha val="14901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6"/>
          <p:cNvSpPr txBox="1"/>
          <p:nvPr/>
        </p:nvSpPr>
        <p:spPr>
          <a:xfrm>
            <a:off x="3714170" y="1728702"/>
            <a:ext cx="2982523" cy="259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PLAN DE EJECUCIÓN</a:t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3723530" y="2312733"/>
            <a:ext cx="1508401" cy="475201"/>
          </a:xfrm>
          <a:prstGeom prst="roundRect">
            <a:avLst>
              <a:gd name="adj" fmla="val 9615"/>
            </a:avLst>
          </a:prstGeom>
          <a:solidFill>
            <a:srgbClr val="D8E2F3"/>
          </a:solidFill>
          <a:ln w="12700" cap="flat" cmpd="sng">
            <a:solidFill>
              <a:srgbClr val="1530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6"/>
          <p:cNvSpPr txBox="1"/>
          <p:nvPr/>
        </p:nvSpPr>
        <p:spPr>
          <a:xfrm>
            <a:off x="3769250" y="2468253"/>
            <a:ext cx="1416961" cy="19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Semanas 1–2</a:t>
            </a:r>
            <a:endParaRPr/>
          </a:p>
        </p:txBody>
      </p:sp>
      <p:sp>
        <p:nvSpPr>
          <p:cNvPr id="352" name="Google Shape;352;p16"/>
          <p:cNvSpPr txBox="1"/>
          <p:nvPr/>
        </p:nvSpPr>
        <p:spPr>
          <a:xfrm>
            <a:off x="3796610" y="2972502"/>
            <a:ext cx="1362241" cy="52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Preparar y perfilar datos</a:t>
            </a:r>
            <a:endParaRPr/>
          </a:p>
        </p:txBody>
      </p:sp>
      <p:pic>
        <p:nvPicPr>
          <p:cNvPr id="353" name="Google Shape;353;p16" descr="Google Shape;22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05369" y="2458892"/>
            <a:ext cx="164161" cy="164161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6"/>
          <p:cNvSpPr/>
          <p:nvPr/>
        </p:nvSpPr>
        <p:spPr>
          <a:xfrm>
            <a:off x="5387449" y="2312733"/>
            <a:ext cx="1901521" cy="475201"/>
          </a:xfrm>
          <a:prstGeom prst="roundRect">
            <a:avLst>
              <a:gd name="adj" fmla="val 9615"/>
            </a:avLst>
          </a:prstGeom>
          <a:solidFill>
            <a:srgbClr val="D8E2F3"/>
          </a:solidFill>
          <a:ln w="12700" cap="flat" cmpd="sng">
            <a:solidFill>
              <a:srgbClr val="274B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6"/>
          <p:cNvSpPr txBox="1"/>
          <p:nvPr/>
        </p:nvSpPr>
        <p:spPr>
          <a:xfrm>
            <a:off x="5433169" y="2468253"/>
            <a:ext cx="1810081" cy="19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Semanas 3–5</a:t>
            </a:r>
            <a:endParaRPr/>
          </a:p>
        </p:txBody>
      </p:sp>
      <p:sp>
        <p:nvSpPr>
          <p:cNvPr id="356" name="Google Shape;356;p16"/>
          <p:cNvSpPr txBox="1"/>
          <p:nvPr/>
        </p:nvSpPr>
        <p:spPr>
          <a:xfrm>
            <a:off x="5460889" y="2972502"/>
            <a:ext cx="1755360" cy="52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Crear y validar modelo</a:t>
            </a:r>
            <a:endParaRPr/>
          </a:p>
        </p:txBody>
      </p:sp>
      <p:pic>
        <p:nvPicPr>
          <p:cNvPr id="357" name="Google Shape;357;p16" descr="Google Shape;227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62769" y="2458892"/>
            <a:ext cx="164161" cy="164161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6"/>
          <p:cNvSpPr/>
          <p:nvPr/>
        </p:nvSpPr>
        <p:spPr>
          <a:xfrm>
            <a:off x="7444850" y="2312733"/>
            <a:ext cx="1508401" cy="475201"/>
          </a:xfrm>
          <a:prstGeom prst="roundRect">
            <a:avLst>
              <a:gd name="adj" fmla="val 9615"/>
            </a:avLst>
          </a:prstGeom>
          <a:solidFill>
            <a:srgbClr val="D8E2F3"/>
          </a:solidFill>
          <a:ln w="12700" cap="flat" cmpd="sng">
            <a:solidFill>
              <a:srgbClr val="B486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6"/>
          <p:cNvSpPr txBox="1"/>
          <p:nvPr/>
        </p:nvSpPr>
        <p:spPr>
          <a:xfrm>
            <a:off x="7490569" y="2468253"/>
            <a:ext cx="1416961" cy="19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Semanas 6–7</a:t>
            </a:r>
            <a:endParaRPr/>
          </a:p>
        </p:txBody>
      </p:sp>
      <p:sp>
        <p:nvSpPr>
          <p:cNvPr id="360" name="Google Shape;360;p16"/>
          <p:cNvSpPr txBox="1"/>
          <p:nvPr/>
        </p:nvSpPr>
        <p:spPr>
          <a:xfrm>
            <a:off x="7518289" y="2972502"/>
            <a:ext cx="1362241" cy="52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Panel + alertas</a:t>
            </a:r>
            <a:endParaRPr/>
          </a:p>
        </p:txBody>
      </p:sp>
      <p:pic>
        <p:nvPicPr>
          <p:cNvPr id="361" name="Google Shape;361;p16" descr="Google Shape;231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27049" y="2458892"/>
            <a:ext cx="164161" cy="164161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6"/>
          <p:cNvSpPr/>
          <p:nvPr/>
        </p:nvSpPr>
        <p:spPr>
          <a:xfrm>
            <a:off x="9109130" y="2312733"/>
            <a:ext cx="1782721" cy="475201"/>
          </a:xfrm>
          <a:prstGeom prst="roundRect">
            <a:avLst>
              <a:gd name="adj" fmla="val 9615"/>
            </a:avLst>
          </a:prstGeom>
          <a:solidFill>
            <a:srgbClr val="D8E2F3"/>
          </a:solidFill>
          <a:ln w="12700" cap="flat" cmpd="sng">
            <a:solidFill>
              <a:srgbClr val="5E7C6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6"/>
          <p:cNvSpPr txBox="1"/>
          <p:nvPr/>
        </p:nvSpPr>
        <p:spPr>
          <a:xfrm>
            <a:off x="9154849" y="2468253"/>
            <a:ext cx="1691280" cy="19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Semanas 8–10</a:t>
            </a:r>
            <a:endParaRPr/>
          </a:p>
        </p:txBody>
      </p:sp>
      <p:sp>
        <p:nvSpPr>
          <p:cNvPr id="364" name="Google Shape;364;p16"/>
          <p:cNvSpPr txBox="1"/>
          <p:nvPr/>
        </p:nvSpPr>
        <p:spPr>
          <a:xfrm>
            <a:off x="9182210" y="2972502"/>
            <a:ext cx="1636561" cy="52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Piloto con pedidos reales</a:t>
            </a:r>
            <a:endParaRPr/>
          </a:p>
        </p:txBody>
      </p:sp>
      <p:sp>
        <p:nvSpPr>
          <p:cNvPr id="365" name="Google Shape;365;p16"/>
          <p:cNvSpPr txBox="1"/>
          <p:nvPr/>
        </p:nvSpPr>
        <p:spPr>
          <a:xfrm>
            <a:off x="3796610" y="3937005"/>
            <a:ext cx="1755360" cy="172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Dependencia principal</a:t>
            </a:r>
            <a:endParaRPr/>
          </a:p>
        </p:txBody>
      </p:sp>
      <p:sp>
        <p:nvSpPr>
          <p:cNvPr id="366" name="Google Shape;366;p16"/>
          <p:cNvSpPr txBox="1"/>
          <p:nvPr/>
        </p:nvSpPr>
        <p:spPr>
          <a:xfrm>
            <a:off x="5615690" y="3928629"/>
            <a:ext cx="2239921" cy="21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64A3B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B64A3B"/>
                </a:solidFill>
                <a:latin typeface="Arial"/>
                <a:ea typeface="Arial"/>
                <a:cs typeface="Arial"/>
                <a:sym typeface="Arial"/>
              </a:rPr>
              <a:t>Calidad y acceso a datos</a:t>
            </a:r>
            <a:endParaRPr/>
          </a:p>
        </p:txBody>
      </p:sp>
      <p:sp>
        <p:nvSpPr>
          <p:cNvPr id="367" name="Google Shape;367;p16"/>
          <p:cNvSpPr txBox="1"/>
          <p:nvPr/>
        </p:nvSpPr>
        <p:spPr>
          <a:xfrm>
            <a:off x="7549657" y="3958287"/>
            <a:ext cx="1416900" cy="1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79"/>
              <a:buFont typeface="Arial"/>
              <a:buNone/>
            </a:pPr>
            <a:r>
              <a:rPr lang="en-US" sz="979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Complejidad dominante</a:t>
            </a:r>
            <a:endParaRPr/>
          </a:p>
        </p:txBody>
      </p:sp>
      <p:sp>
        <p:nvSpPr>
          <p:cNvPr id="368" name="Google Shape;368;p16"/>
          <p:cNvSpPr txBox="1"/>
          <p:nvPr/>
        </p:nvSpPr>
        <p:spPr>
          <a:xfrm>
            <a:off x="9236844" y="3908940"/>
            <a:ext cx="1919880" cy="21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Modelo + integración</a:t>
            </a:r>
            <a:endParaRPr/>
          </a:p>
        </p:txBody>
      </p:sp>
      <p:pic>
        <p:nvPicPr>
          <p:cNvPr id="369" name="Google Shape;369;p16" descr="Google Shape;239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66241" y="3467224"/>
            <a:ext cx="337135" cy="337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6" descr="Google Shape;240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00710" y="3473253"/>
            <a:ext cx="338849" cy="338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6" descr="Google Shape;241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08074" y="3493713"/>
            <a:ext cx="300073" cy="300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16" descr="Google Shape;242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15662" y="3438378"/>
            <a:ext cx="338849" cy="338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16" descr="Google Shape;39;p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7"/>
          <p:cNvSpPr txBox="1"/>
          <p:nvPr/>
        </p:nvSpPr>
        <p:spPr>
          <a:xfrm>
            <a:off x="566927" y="457708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MVP / 04 · PLAN DE EJECUCIÓN </a:t>
            </a:r>
            <a:endParaRPr/>
          </a:p>
        </p:txBody>
      </p:sp>
      <p:sp>
        <p:nvSpPr>
          <p:cNvPr id="379" name="Google Shape;379;p17"/>
          <p:cNvSpPr txBox="1"/>
          <p:nvPr/>
        </p:nvSpPr>
        <p:spPr>
          <a:xfrm>
            <a:off x="6400800" y="6511035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ALCANCE DEL PRODUCTO</a:t>
            </a:r>
            <a:endParaRPr/>
          </a:p>
        </p:txBody>
      </p:sp>
      <p:sp>
        <p:nvSpPr>
          <p:cNvPr id="380" name="Google Shape;380;p17"/>
          <p:cNvSpPr txBox="1"/>
          <p:nvPr/>
        </p:nvSpPr>
        <p:spPr>
          <a:xfrm>
            <a:off x="571198" y="991127"/>
            <a:ext cx="8622963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De los datos al piloto en 10 semanas</a:t>
            </a:r>
            <a:endParaRPr/>
          </a:p>
        </p:txBody>
      </p:sp>
      <p:sp>
        <p:nvSpPr>
          <p:cNvPr id="381" name="Google Shape;381;p17"/>
          <p:cNvSpPr/>
          <p:nvPr/>
        </p:nvSpPr>
        <p:spPr>
          <a:xfrm>
            <a:off x="1281290" y="2145066"/>
            <a:ext cx="2363361" cy="2979042"/>
          </a:xfrm>
          <a:prstGeom prst="roundRect">
            <a:avLst>
              <a:gd name="adj" fmla="val 6107"/>
            </a:avLst>
          </a:prstGeom>
          <a:solidFill>
            <a:srgbClr val="FFFDF9"/>
          </a:solidFill>
          <a:ln w="9525" cap="flat" cmpd="sng">
            <a:solidFill>
              <a:srgbClr val="D8CD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p17" descr="Google Shape;25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0595" y="4670273"/>
            <a:ext cx="263223" cy="2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7"/>
          <p:cNvSpPr txBox="1"/>
          <p:nvPr/>
        </p:nvSpPr>
        <p:spPr>
          <a:xfrm>
            <a:off x="1455606" y="2302623"/>
            <a:ext cx="2063347" cy="136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600"/>
              <a:buFont typeface="Arial"/>
              <a:buNone/>
            </a:pPr>
            <a:r>
              <a:rPr lang="en-US" sz="1600" b="1" i="0" u="sng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INTEGRACION PASIVA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02194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945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21945"/>
                </a:solidFill>
                <a:latin typeface="Arial"/>
                <a:ea typeface="Arial"/>
                <a:cs typeface="Arial"/>
                <a:sym typeface="Arial"/>
              </a:rPr>
              <a:t>Recibe los datos sin intervenir en la operación</a:t>
            </a:r>
            <a:endParaRPr/>
          </a:p>
        </p:txBody>
      </p:sp>
      <p:sp>
        <p:nvSpPr>
          <p:cNvPr id="384" name="Google Shape;384;p17"/>
          <p:cNvSpPr txBox="1"/>
          <p:nvPr/>
        </p:nvSpPr>
        <p:spPr>
          <a:xfrm>
            <a:off x="1461286" y="3832061"/>
            <a:ext cx="1312822" cy="679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Shopify / WooCommerce / CSV</a:t>
            </a:r>
            <a:endParaRPr/>
          </a:p>
        </p:txBody>
      </p:sp>
      <p:sp>
        <p:nvSpPr>
          <p:cNvPr id="385" name="Google Shape;385;p17"/>
          <p:cNvSpPr/>
          <p:nvPr/>
        </p:nvSpPr>
        <p:spPr>
          <a:xfrm>
            <a:off x="3861205" y="2195247"/>
            <a:ext cx="2363360" cy="2926809"/>
          </a:xfrm>
          <a:prstGeom prst="roundRect">
            <a:avLst>
              <a:gd name="adj" fmla="val 6107"/>
            </a:avLst>
          </a:prstGeom>
          <a:solidFill>
            <a:srgbClr val="DCE7ED"/>
          </a:solidFill>
          <a:ln w="9525" cap="flat" cmpd="sng">
            <a:solidFill>
              <a:srgbClr val="DCE7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6" name="Google Shape;386;p17" descr="Google Shape;255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06302" y="4669263"/>
            <a:ext cx="263223" cy="2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7"/>
          <p:cNvSpPr txBox="1"/>
          <p:nvPr/>
        </p:nvSpPr>
        <p:spPr>
          <a:xfrm>
            <a:off x="4046208" y="2339525"/>
            <a:ext cx="1983409" cy="1593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600"/>
              <a:buFont typeface="Arial"/>
              <a:buNone/>
            </a:pPr>
            <a:r>
              <a:rPr lang="en-US" sz="1600" b="1" i="0" u="sng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MODELO PREDICTIVO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15304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Calcula el nivel de riesgo de cada pedido</a:t>
            </a:r>
            <a:endParaRPr/>
          </a:p>
        </p:txBody>
      </p:sp>
      <p:sp>
        <p:nvSpPr>
          <p:cNvPr id="388" name="Google Shape;388;p17"/>
          <p:cNvSpPr txBox="1"/>
          <p:nvPr/>
        </p:nvSpPr>
        <p:spPr>
          <a:xfrm>
            <a:off x="4077339" y="3734637"/>
            <a:ext cx="1804469" cy="90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Score de riesgo y principales patrones detectados</a:t>
            </a:r>
            <a:endParaRPr/>
          </a:p>
        </p:txBody>
      </p:sp>
      <p:sp>
        <p:nvSpPr>
          <p:cNvPr id="389" name="Google Shape;389;p17"/>
          <p:cNvSpPr/>
          <p:nvPr/>
        </p:nvSpPr>
        <p:spPr>
          <a:xfrm>
            <a:off x="6341035" y="2186445"/>
            <a:ext cx="2363360" cy="2926809"/>
          </a:xfrm>
          <a:prstGeom prst="roundRect">
            <a:avLst>
              <a:gd name="adj" fmla="val 6107"/>
            </a:avLst>
          </a:prstGeom>
          <a:solidFill>
            <a:srgbClr val="FFFDF9"/>
          </a:solidFill>
          <a:ln w="9525" cap="flat" cmpd="sng">
            <a:solidFill>
              <a:srgbClr val="D8CD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p17" descr="Google Shape;2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31292" y="4669263"/>
            <a:ext cx="263223" cy="2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7"/>
          <p:cNvSpPr/>
          <p:nvPr/>
        </p:nvSpPr>
        <p:spPr>
          <a:xfrm>
            <a:off x="9115469" y="2186445"/>
            <a:ext cx="2363360" cy="2935972"/>
          </a:xfrm>
          <a:prstGeom prst="roundRect">
            <a:avLst>
              <a:gd name="adj" fmla="val 6107"/>
            </a:avLst>
          </a:prstGeom>
          <a:solidFill>
            <a:srgbClr val="DCE7ED"/>
          </a:solidFill>
          <a:ln w="9525" cap="flat" cmpd="sng">
            <a:solidFill>
              <a:srgbClr val="DCE7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2" name="Google Shape;392;p17" descr="Google Shape;261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97148" y="4669845"/>
            <a:ext cx="263223" cy="2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7"/>
          <p:cNvSpPr txBox="1"/>
          <p:nvPr/>
        </p:nvSpPr>
        <p:spPr>
          <a:xfrm>
            <a:off x="6506809" y="2341002"/>
            <a:ext cx="1983409" cy="1340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600"/>
              <a:buFont typeface="Arial"/>
              <a:buNone/>
            </a:pPr>
            <a:r>
              <a:rPr lang="en-US" sz="1600" b="1" i="0" u="sng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PANEL OPERATIVO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15304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Prioriza los pedidos que requieren revisión</a:t>
            </a:r>
            <a:endParaRPr/>
          </a:p>
        </p:txBody>
      </p:sp>
      <p:sp>
        <p:nvSpPr>
          <p:cNvPr id="394" name="Google Shape;394;p17"/>
          <p:cNvSpPr txBox="1"/>
          <p:nvPr/>
        </p:nvSpPr>
        <p:spPr>
          <a:xfrm>
            <a:off x="6529058" y="3904793"/>
            <a:ext cx="1804469" cy="679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Filtros, motivos de riesgo y estado del pedido</a:t>
            </a:r>
            <a:endParaRPr/>
          </a:p>
        </p:txBody>
      </p:sp>
      <p:sp>
        <p:nvSpPr>
          <p:cNvPr id="395" name="Google Shape;395;p17"/>
          <p:cNvSpPr txBox="1"/>
          <p:nvPr/>
        </p:nvSpPr>
        <p:spPr>
          <a:xfrm>
            <a:off x="9287005" y="2324725"/>
            <a:ext cx="1983409" cy="136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600"/>
              <a:buFont typeface="Arial"/>
              <a:buNone/>
            </a:pPr>
            <a:r>
              <a:rPr lang="en-US" sz="1600" b="1" i="0" u="sng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ALERTAS ACCIONABLES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15304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Notifica los riesgos antes del despacho</a:t>
            </a:r>
            <a:endParaRPr/>
          </a:p>
        </p:txBody>
      </p:sp>
      <p:sp>
        <p:nvSpPr>
          <p:cNvPr id="396" name="Google Shape;396;p17"/>
          <p:cNvSpPr txBox="1"/>
          <p:nvPr/>
        </p:nvSpPr>
        <p:spPr>
          <a:xfrm>
            <a:off x="9309254" y="3773108"/>
            <a:ext cx="1804469" cy="90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Aalertas por correo o slack según el umbral definido</a:t>
            </a:r>
            <a:endParaRPr/>
          </a:p>
        </p:txBody>
      </p:sp>
      <p:pic>
        <p:nvPicPr>
          <p:cNvPr id="397" name="Google Shape;397;p17" descr="Google Shape;39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8"/>
          <p:cNvSpPr txBox="1"/>
          <p:nvPr/>
        </p:nvSpPr>
        <p:spPr>
          <a:xfrm>
            <a:off x="566927" y="457708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MVP / 05 · STAKEHOLDERS</a:t>
            </a:r>
            <a:endParaRPr/>
          </a:p>
        </p:txBody>
      </p:sp>
      <p:sp>
        <p:nvSpPr>
          <p:cNvPr id="403" name="Google Shape;403;p18"/>
          <p:cNvSpPr txBox="1"/>
          <p:nvPr/>
        </p:nvSpPr>
        <p:spPr>
          <a:xfrm>
            <a:off x="6400800" y="6511035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ALCANCE DEL PRODUCTO</a:t>
            </a:r>
            <a:endParaRPr/>
          </a:p>
        </p:txBody>
      </p:sp>
      <p:sp>
        <p:nvSpPr>
          <p:cNvPr id="404" name="Google Shape;404;p18"/>
          <p:cNvSpPr txBox="1"/>
          <p:nvPr/>
        </p:nvSpPr>
        <p:spPr>
          <a:xfrm>
            <a:off x="566927" y="749808"/>
            <a:ext cx="10058401" cy="31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700"/>
              <a:buFont typeface="Overlock"/>
              <a:buNone/>
            </a:pPr>
            <a:r>
              <a:rPr lang="en-US" sz="1700" b="1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La participación depende de un ecosistema coordinado</a:t>
            </a:r>
            <a:endParaRPr/>
          </a:p>
        </p:txBody>
      </p:sp>
      <p:pic>
        <p:nvPicPr>
          <p:cNvPr id="405" name="Google Shape;405;p18" descr="Google Shape;15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651" y="1466203"/>
            <a:ext cx="5456928" cy="451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18" descr="Google Shape;15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12508" y="2308394"/>
            <a:ext cx="5024075" cy="3122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8" descr="Google Shape;39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9"/>
          <p:cNvSpPr txBox="1"/>
          <p:nvPr/>
        </p:nvSpPr>
        <p:spPr>
          <a:xfrm>
            <a:off x="566927" y="457708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MVP / 06 · MÉTRICAS DE ÉXITO</a:t>
            </a:r>
            <a:endParaRPr/>
          </a:p>
        </p:txBody>
      </p:sp>
      <p:sp>
        <p:nvSpPr>
          <p:cNvPr id="413" name="Google Shape;413;p19"/>
          <p:cNvSpPr txBox="1"/>
          <p:nvPr/>
        </p:nvSpPr>
        <p:spPr>
          <a:xfrm>
            <a:off x="6400800" y="6511035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ALCANCE DEL PRODUCTO</a:t>
            </a:r>
            <a:endParaRPr/>
          </a:p>
        </p:txBody>
      </p:sp>
      <p:sp>
        <p:nvSpPr>
          <p:cNvPr id="414" name="Google Shape;414;p19"/>
          <p:cNvSpPr txBox="1"/>
          <p:nvPr/>
        </p:nvSpPr>
        <p:spPr>
          <a:xfrm>
            <a:off x="543848" y="936620"/>
            <a:ext cx="8622963" cy="525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El valor se demuestra </a:t>
            </a:r>
            <a:r>
              <a:rPr lang="en-US" sz="18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reduciendo costos, protegiendo el margen y liberando capacidad operativa</a:t>
            </a:r>
            <a:endParaRPr/>
          </a:p>
        </p:txBody>
      </p:sp>
      <p:sp>
        <p:nvSpPr>
          <p:cNvPr id="415" name="Google Shape;415;p19"/>
          <p:cNvSpPr/>
          <p:nvPr/>
        </p:nvSpPr>
        <p:spPr>
          <a:xfrm>
            <a:off x="625927" y="1819217"/>
            <a:ext cx="3584161" cy="4044388"/>
          </a:xfrm>
          <a:prstGeom prst="roundRect">
            <a:avLst>
              <a:gd name="adj" fmla="val 5405"/>
            </a:avLst>
          </a:prstGeom>
          <a:solidFill>
            <a:srgbClr val="FFFDF9"/>
          </a:solidFill>
          <a:ln w="9525" cap="flat" cmpd="sng">
            <a:solidFill>
              <a:srgbClr val="D8CD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9"/>
          <p:cNvSpPr/>
          <p:nvPr/>
        </p:nvSpPr>
        <p:spPr>
          <a:xfrm>
            <a:off x="2220360" y="5075714"/>
            <a:ext cx="493561" cy="493561"/>
          </a:xfrm>
          <a:prstGeom prst="ellipse">
            <a:avLst/>
          </a:prstGeom>
          <a:solidFill>
            <a:srgbClr val="DCE7ED"/>
          </a:solidFill>
          <a:ln w="12700" cap="flat" cmpd="sng">
            <a:solidFill>
              <a:srgbClr val="DCE7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7" name="Google Shape;417;p19" descr="Google Shape;27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8520" y="5199194"/>
            <a:ext cx="236522" cy="236521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9"/>
          <p:cNvSpPr txBox="1"/>
          <p:nvPr/>
        </p:nvSpPr>
        <p:spPr>
          <a:xfrm>
            <a:off x="756237" y="1920860"/>
            <a:ext cx="3279971" cy="1970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148"/>
              <a:buFont typeface="Arial"/>
              <a:buNone/>
            </a:pPr>
            <a:r>
              <a:rPr lang="en-US" sz="1148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                            </a:t>
            </a:r>
            <a:endParaRPr/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endParaRPr sz="1312" b="1" i="0" u="none" strike="noStrike" cap="none">
              <a:solidFill>
                <a:srgbClr val="F2630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312"/>
              <a:buFont typeface="Arial"/>
              <a:buNone/>
            </a:pPr>
            <a:r>
              <a:rPr lang="en-US" sz="1312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 COSTO EVITADO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11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48"/>
              <a:buFont typeface="Arial"/>
              <a:buNone/>
            </a:pPr>
            <a:r>
              <a:rPr lang="en-US" sz="1148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Qué mide:</a:t>
            </a:r>
            <a:r>
              <a:rPr lang="en-US" sz="1148" b="0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 Ahorro generado por devoluciones prevenidas.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48"/>
              <a:buFont typeface="Arial"/>
              <a:buNone/>
            </a:pPr>
            <a:r>
              <a:rPr lang="en-US" sz="1148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Cálculo:</a:t>
            </a:r>
            <a:br>
              <a:rPr lang="en-US" sz="1148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48" b="0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Devoluciones prevenidas × costo promedio por devolución.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48"/>
              <a:buFont typeface="Arial"/>
              <a:buNone/>
            </a:pPr>
            <a:r>
              <a:rPr lang="en-US" sz="1148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Incluye:</a:t>
            </a:r>
            <a:r>
              <a:rPr lang="en-US" sz="1148" b="0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 Transporte, revisión, reprocesamiento y costos administrativos.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48"/>
              <a:buFont typeface="Arial"/>
              <a:buNone/>
            </a:pPr>
            <a:r>
              <a:rPr lang="en-US" sz="1148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Demuestra:</a:t>
            </a:r>
            <a:r>
              <a:rPr lang="en-US" sz="1148" b="0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 El ahorro directo generado por el MVP</a:t>
            </a:r>
            <a:r>
              <a:rPr lang="en-US" sz="574" b="0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..</a:t>
            </a:r>
            <a:endParaRPr sz="57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8"/>
              <a:buFont typeface="Arial"/>
              <a:buNone/>
            </a:pPr>
            <a:endParaRPr sz="328" b="1" i="0" u="none" strike="noStrike" cap="none">
              <a:solidFill>
                <a:srgbClr val="1530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9"/>
          <p:cNvSpPr/>
          <p:nvPr/>
        </p:nvSpPr>
        <p:spPr>
          <a:xfrm>
            <a:off x="4356608" y="1819218"/>
            <a:ext cx="3584161" cy="4044387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 cap="flat" cmpd="sng">
            <a:solidFill>
              <a:srgbClr val="F4D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9"/>
          <p:cNvSpPr/>
          <p:nvPr/>
        </p:nvSpPr>
        <p:spPr>
          <a:xfrm>
            <a:off x="6119714" y="5075719"/>
            <a:ext cx="493561" cy="493561"/>
          </a:xfrm>
          <a:prstGeom prst="ellipse">
            <a:avLst/>
          </a:prstGeom>
          <a:solidFill>
            <a:srgbClr val="DCE7ED"/>
          </a:solidFill>
          <a:ln w="12700" cap="flat" cmpd="sng">
            <a:solidFill>
              <a:srgbClr val="FFFD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19" descr="Google Shape;280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47874" y="5199199"/>
            <a:ext cx="236521" cy="236521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9"/>
          <p:cNvSpPr/>
          <p:nvPr/>
        </p:nvSpPr>
        <p:spPr>
          <a:xfrm>
            <a:off x="8087287" y="1819218"/>
            <a:ext cx="3584161" cy="4044386"/>
          </a:xfrm>
          <a:prstGeom prst="roundRect">
            <a:avLst>
              <a:gd name="adj" fmla="val 5405"/>
            </a:avLst>
          </a:prstGeom>
          <a:solidFill>
            <a:srgbClr val="FFFDF9"/>
          </a:solidFill>
          <a:ln w="9525" cap="flat" cmpd="sng">
            <a:solidFill>
              <a:srgbClr val="D8CD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9"/>
          <p:cNvSpPr/>
          <p:nvPr/>
        </p:nvSpPr>
        <p:spPr>
          <a:xfrm>
            <a:off x="10054581" y="5111230"/>
            <a:ext cx="493561" cy="493561"/>
          </a:xfrm>
          <a:prstGeom prst="ellipse">
            <a:avLst/>
          </a:prstGeom>
          <a:solidFill>
            <a:srgbClr val="DCE7ED"/>
          </a:solidFill>
          <a:ln w="12700" cap="flat" cmpd="sng">
            <a:solidFill>
              <a:srgbClr val="DCE7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19" descr="Google Shape;283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83101" y="5234710"/>
            <a:ext cx="236521" cy="236521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9"/>
          <p:cNvSpPr txBox="1"/>
          <p:nvPr/>
        </p:nvSpPr>
        <p:spPr>
          <a:xfrm>
            <a:off x="4634253" y="1930219"/>
            <a:ext cx="3196675" cy="207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148"/>
              <a:buFont typeface="Arial"/>
              <a:buNone/>
            </a:pPr>
            <a:r>
              <a:rPr lang="en-US" sz="1148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                         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F2630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312"/>
              <a:buFont typeface="Arial"/>
              <a:buNone/>
            </a:pPr>
            <a:r>
              <a:rPr lang="en-US" sz="1312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MARGEN PROTEGIDO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11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48"/>
              <a:buFont typeface="Arial"/>
              <a:buNone/>
            </a:pPr>
            <a:r>
              <a:rPr lang="en-US" sz="1148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Qué mide:</a:t>
            </a:r>
            <a:r>
              <a:rPr lang="en-US" sz="1148" b="0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 Valor económico que la empresa conserva al prevenir devoluciones y recuperar margen.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48"/>
              <a:buFont typeface="Arial"/>
              <a:buNone/>
            </a:pPr>
            <a:r>
              <a:rPr lang="en-US" sz="1148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Cálculo:</a:t>
            </a:r>
            <a:br>
              <a:rPr lang="en-US" sz="1148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48" b="0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Costo evitado + contribución recuperada  - costo del piloto.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48"/>
              <a:buFont typeface="Arial"/>
              <a:buNone/>
            </a:pPr>
            <a:r>
              <a:rPr lang="en-US" sz="1148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Incluye:</a:t>
            </a:r>
            <a:r>
              <a:rPr lang="en-US" sz="1148" b="0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 Costos logísticos evitados, margen recuperado y coto de implementación. 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48"/>
              <a:buFont typeface="Arial"/>
              <a:buNone/>
            </a:pPr>
            <a:r>
              <a:rPr lang="en-US" sz="1148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Demuestra:</a:t>
            </a:r>
            <a:r>
              <a:rPr lang="en-US" sz="1148" b="0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 El beneficio económico neto generado por el MVP.</a:t>
            </a:r>
            <a:endParaRPr sz="57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8"/>
              <a:buFont typeface="Arial"/>
              <a:buNone/>
            </a:pPr>
            <a:endParaRPr sz="328" b="1" i="0" u="none" strike="noStrike" cap="none">
              <a:solidFill>
                <a:srgbClr val="1530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9"/>
          <p:cNvSpPr txBox="1"/>
          <p:nvPr/>
        </p:nvSpPr>
        <p:spPr>
          <a:xfrm>
            <a:off x="8343997" y="1921730"/>
            <a:ext cx="3196675" cy="207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175"/>
              <a:buFont typeface="Arial"/>
              <a:buNone/>
            </a:pPr>
            <a:r>
              <a:rPr lang="en-US" sz="1175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                         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F2630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344"/>
              <a:buFont typeface="Arial"/>
              <a:buNone/>
            </a:pPr>
            <a:r>
              <a:rPr lang="en-US" sz="1344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HORAS LIBERADAS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11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75"/>
              <a:buFont typeface="Arial"/>
              <a:buNone/>
            </a:pPr>
            <a:r>
              <a:rPr lang="en-US" sz="1175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Qué mide:</a:t>
            </a:r>
            <a:r>
              <a:rPr lang="en-US" sz="1175" b="0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 Tiempo operativo ahorrado gracias a la reducción de reclamos y devoluciones.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75"/>
              <a:buFont typeface="Arial"/>
              <a:buNone/>
            </a:pPr>
            <a:r>
              <a:rPr lang="en-US" sz="1175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Cálculo:</a:t>
            </a:r>
            <a:br>
              <a:rPr lang="en-US" sz="1175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75" b="0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Reclamos reducidos × tiempo promedio de gestion 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75"/>
              <a:buFont typeface="Arial"/>
              <a:buNone/>
            </a:pPr>
            <a:r>
              <a:rPr lang="en-US" sz="1175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Incluye:</a:t>
            </a:r>
            <a:r>
              <a:rPr lang="en-US" sz="1175" b="0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 Revisión, atención al cliente, coordinación y seguimiento del caso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175"/>
              <a:buFont typeface="Arial"/>
              <a:buNone/>
            </a:pPr>
            <a:r>
              <a:rPr lang="en-US" sz="1175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Demuestra:</a:t>
            </a:r>
            <a:r>
              <a:rPr lang="en-US" sz="1175" b="0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 La capacidad recuperada por el equipo.</a:t>
            </a:r>
            <a:endParaRPr sz="58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6"/>
              <a:buFont typeface="Arial"/>
              <a:buNone/>
            </a:pPr>
            <a:endParaRPr sz="336" b="1" i="0" u="none" strike="noStrike" cap="none">
              <a:solidFill>
                <a:srgbClr val="1530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7" name="Google Shape;427;p19" descr="Google Shape;39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0"/>
          <p:cNvSpPr txBox="1"/>
          <p:nvPr/>
        </p:nvSpPr>
        <p:spPr>
          <a:xfrm>
            <a:off x="566927" y="457708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MVP / 07 · VALIDACIÓN</a:t>
            </a:r>
            <a:endParaRPr/>
          </a:p>
        </p:txBody>
      </p:sp>
      <p:sp>
        <p:nvSpPr>
          <p:cNvPr id="433" name="Google Shape;433;p20"/>
          <p:cNvSpPr txBox="1"/>
          <p:nvPr/>
        </p:nvSpPr>
        <p:spPr>
          <a:xfrm>
            <a:off x="6400800" y="6511035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ALCANCE DEL PRODUCTO</a:t>
            </a:r>
            <a:endParaRPr/>
          </a:p>
        </p:txBody>
      </p:sp>
      <p:sp>
        <p:nvSpPr>
          <p:cNvPr id="434" name="Google Shape;434;p20"/>
          <p:cNvSpPr txBox="1"/>
          <p:nvPr/>
        </p:nvSpPr>
        <p:spPr>
          <a:xfrm>
            <a:off x="562898" y="936620"/>
            <a:ext cx="8622963" cy="525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Los recursos, capacidades y etapas necesarias </a:t>
            </a:r>
            <a:r>
              <a:rPr lang="en-US" sz="18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para pasar de la validación al escalamiento</a:t>
            </a:r>
            <a:endParaRPr/>
          </a:p>
        </p:txBody>
      </p:sp>
      <p:sp>
        <p:nvSpPr>
          <p:cNvPr id="435" name="Google Shape;435;p20"/>
          <p:cNvSpPr/>
          <p:nvPr/>
        </p:nvSpPr>
        <p:spPr>
          <a:xfrm>
            <a:off x="5115097" y="4556988"/>
            <a:ext cx="2956265" cy="1233997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0"/>
          <p:cNvSpPr/>
          <p:nvPr/>
        </p:nvSpPr>
        <p:spPr>
          <a:xfrm>
            <a:off x="586919" y="2181484"/>
            <a:ext cx="2651401" cy="3067962"/>
          </a:xfrm>
          <a:prstGeom prst="roundRect">
            <a:avLst>
              <a:gd name="adj" fmla="val 3292"/>
            </a:avLst>
          </a:prstGeom>
          <a:solidFill>
            <a:srgbClr val="DCE7ED"/>
          </a:solidFill>
          <a:ln w="9525" cap="flat" cmpd="sng">
            <a:solidFill>
              <a:srgbClr val="DCE7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7" name="Google Shape;437;p20" descr="Google Shape;29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9001" y="4806828"/>
            <a:ext cx="227881" cy="227881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0"/>
          <p:cNvSpPr/>
          <p:nvPr/>
        </p:nvSpPr>
        <p:spPr>
          <a:xfrm>
            <a:off x="3375839" y="2181485"/>
            <a:ext cx="2651401" cy="3067963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9525" cap="flat" cmpd="sng">
            <a:solidFill>
              <a:srgbClr val="F4D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9" name="Google Shape;439;p20" descr="Google Shape;299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6108" y="4806828"/>
            <a:ext cx="227881" cy="227881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0"/>
          <p:cNvSpPr/>
          <p:nvPr/>
        </p:nvSpPr>
        <p:spPr>
          <a:xfrm>
            <a:off x="6164760" y="2181484"/>
            <a:ext cx="2651401" cy="3067962"/>
          </a:xfrm>
          <a:prstGeom prst="roundRect">
            <a:avLst>
              <a:gd name="adj" fmla="val 3292"/>
            </a:avLst>
          </a:prstGeom>
          <a:solidFill>
            <a:srgbClr val="DCE7ED"/>
          </a:solidFill>
          <a:ln w="9525" cap="flat" cmpd="sng">
            <a:solidFill>
              <a:srgbClr val="DDE8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1" name="Google Shape;441;p20" descr="Google Shape;301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13679" y="4889870"/>
            <a:ext cx="227881" cy="227881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0"/>
          <p:cNvSpPr/>
          <p:nvPr/>
        </p:nvSpPr>
        <p:spPr>
          <a:xfrm>
            <a:off x="8953680" y="2181485"/>
            <a:ext cx="2651401" cy="3067961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9525" cap="flat" cmpd="sng">
            <a:solidFill>
              <a:srgbClr val="F6E5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3" name="Google Shape;443;p20" descr="Google Shape;303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184960" y="4806828"/>
            <a:ext cx="227881" cy="227881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0"/>
          <p:cNvSpPr txBox="1"/>
          <p:nvPr/>
        </p:nvSpPr>
        <p:spPr>
          <a:xfrm>
            <a:off x="770498" y="2469676"/>
            <a:ext cx="2306385" cy="2427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                            </a:t>
            </a:r>
            <a:endParaRPr/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DATOS LISTOS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0011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Pedidos, devoluciones y motivos asociados.</a:t>
            </a:r>
            <a:br>
              <a:rPr lang="en-US" sz="14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12 meses de histórico depurado.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11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Acceso mediante API o archivos CSV.</a:t>
            </a:r>
            <a:endParaRPr/>
          </a:p>
          <a:p>
            <a:pPr marL="596900" marR="0" lvl="0" indent="-5080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11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1530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0"/>
          <p:cNvSpPr txBox="1"/>
          <p:nvPr/>
        </p:nvSpPr>
        <p:spPr>
          <a:xfrm>
            <a:off x="6372128" y="2463796"/>
            <a:ext cx="2151712" cy="2427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                            </a:t>
            </a:r>
            <a:endParaRPr/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TECNOLOGIA MINIMA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0011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Entorno seguro para procesar los datos.</a:t>
            </a:r>
            <a:br>
              <a:rPr lang="en-US" sz="14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Modelo predictivo y panel operativo.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11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Alertas integradas por correo o Slack.</a:t>
            </a:r>
            <a:endParaRPr/>
          </a:p>
          <a:p>
            <a:pPr marL="596900" marR="0" lvl="0" indent="-5080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11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1530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0"/>
          <p:cNvSpPr txBox="1"/>
          <p:nvPr/>
        </p:nvSpPr>
        <p:spPr>
          <a:xfrm>
            <a:off x="3525994" y="2499221"/>
            <a:ext cx="2400446" cy="2427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                            </a:t>
            </a:r>
            <a:endParaRPr/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EQUIPO RESPONSABLE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0011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Product manager o líder del piloto.</a:t>
            </a:r>
            <a:br>
              <a:rPr lang="en-US" sz="14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Especialista en datos y Machine Learning.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11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Sponsor operativo y responsable técnico.</a:t>
            </a:r>
            <a:endParaRPr/>
          </a:p>
          <a:p>
            <a:pPr marL="596900" marR="0" lvl="0" indent="-5080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11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1530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0"/>
          <p:cNvSpPr txBox="1"/>
          <p:nvPr/>
        </p:nvSpPr>
        <p:spPr>
          <a:xfrm>
            <a:off x="9323586" y="2463858"/>
            <a:ext cx="1985667" cy="2420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246"/>
              <a:buFont typeface="Arial"/>
              <a:buNone/>
            </a:pPr>
            <a:r>
              <a:rPr lang="en-US" sz="1246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                            </a:t>
            </a:r>
            <a:endParaRPr/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424"/>
              <a:buFont typeface="Arial"/>
              <a:buNone/>
            </a:pPr>
            <a:r>
              <a:rPr lang="en-US" sz="1424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PILOTO CONTROLADO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8"/>
              <a:buFont typeface="Arial"/>
              <a:buNone/>
            </a:pPr>
            <a:endParaRPr sz="1068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8"/>
              <a:buFont typeface="Arial"/>
              <a:buNone/>
            </a:pPr>
            <a:endParaRPr sz="1068" b="1" i="0" u="none" strike="noStrike" cap="none">
              <a:solidFill>
                <a:srgbClr val="0011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246"/>
              <a:buFont typeface="Arial"/>
              <a:buNone/>
            </a:pPr>
            <a:r>
              <a:rPr lang="en-US" sz="1246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Selección de 5 a 10 tiendas.</a:t>
            </a:r>
            <a:br>
              <a:rPr lang="en-US" sz="1246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246"/>
              <a:buFont typeface="Arial"/>
              <a:buNone/>
            </a:pPr>
            <a:r>
              <a:rPr lang="en-US" sz="1246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Usuarios responsables de actuar sobre las alertas.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11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246"/>
              <a:buFont typeface="Arial"/>
              <a:buNone/>
            </a:pPr>
            <a:r>
              <a:rPr lang="en-US" sz="1246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Métricas, criterios de éxito y decisión de cantidad.</a:t>
            </a:r>
            <a:endParaRPr/>
          </a:p>
          <a:p>
            <a:pPr marL="531240" marR="0" lvl="0" indent="-452119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11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8"/>
              <a:buFont typeface="Arial"/>
              <a:buNone/>
            </a:pPr>
            <a:endParaRPr sz="1068" b="1" i="0" u="none" strike="noStrike" cap="none">
              <a:solidFill>
                <a:srgbClr val="1530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448;p20" descr="Google Shape;39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1"/>
          <p:cNvSpPr txBox="1"/>
          <p:nvPr/>
        </p:nvSpPr>
        <p:spPr>
          <a:xfrm>
            <a:off x="566927" y="457708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MVP / 08 · RIESGOS</a:t>
            </a:r>
            <a:endParaRPr/>
          </a:p>
        </p:txBody>
      </p:sp>
      <p:sp>
        <p:nvSpPr>
          <p:cNvPr id="454" name="Google Shape;454;p21"/>
          <p:cNvSpPr txBox="1"/>
          <p:nvPr/>
        </p:nvSpPr>
        <p:spPr>
          <a:xfrm>
            <a:off x="6400800" y="6511035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ALCANCE DEL PRODUCTO</a:t>
            </a:r>
            <a:endParaRPr/>
          </a:p>
        </p:txBody>
      </p:sp>
      <p:sp>
        <p:nvSpPr>
          <p:cNvPr id="455" name="Google Shape;455;p21"/>
          <p:cNvSpPr txBox="1"/>
          <p:nvPr/>
        </p:nvSpPr>
        <p:spPr>
          <a:xfrm>
            <a:off x="562898" y="909699"/>
            <a:ext cx="8622964" cy="525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Qué puede comprometer el piloto, </a:t>
            </a:r>
            <a:r>
              <a:rPr lang="en-US" sz="18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cómo mitigarlo y qué debemos validar antes de escalar</a:t>
            </a:r>
            <a:endParaRPr/>
          </a:p>
        </p:txBody>
      </p:sp>
      <p:sp>
        <p:nvSpPr>
          <p:cNvPr id="456" name="Google Shape;456;p21"/>
          <p:cNvSpPr/>
          <p:nvPr/>
        </p:nvSpPr>
        <p:spPr>
          <a:xfrm>
            <a:off x="5113537" y="3843876"/>
            <a:ext cx="2956266" cy="1233997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1"/>
          <p:cNvSpPr txBox="1"/>
          <p:nvPr/>
        </p:nvSpPr>
        <p:spPr>
          <a:xfrm>
            <a:off x="1618560" y="1702260"/>
            <a:ext cx="1645561" cy="19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Riesgo</a:t>
            </a:r>
            <a:endParaRPr/>
          </a:p>
        </p:txBody>
      </p:sp>
      <p:sp>
        <p:nvSpPr>
          <p:cNvPr id="458" name="Google Shape;458;p21"/>
          <p:cNvSpPr txBox="1"/>
          <p:nvPr/>
        </p:nvSpPr>
        <p:spPr>
          <a:xfrm>
            <a:off x="2907719" y="1702260"/>
            <a:ext cx="1645562" cy="19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Qué puede ocurrir</a:t>
            </a:r>
            <a:endParaRPr/>
          </a:p>
        </p:txBody>
      </p:sp>
      <p:sp>
        <p:nvSpPr>
          <p:cNvPr id="459" name="Google Shape;459;p21"/>
          <p:cNvSpPr txBox="1"/>
          <p:nvPr/>
        </p:nvSpPr>
        <p:spPr>
          <a:xfrm>
            <a:off x="5586839" y="1702260"/>
            <a:ext cx="1645562" cy="19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Impacto</a:t>
            </a:r>
            <a:endParaRPr/>
          </a:p>
        </p:txBody>
      </p:sp>
      <p:sp>
        <p:nvSpPr>
          <p:cNvPr id="460" name="Google Shape;460;p21"/>
          <p:cNvSpPr txBox="1"/>
          <p:nvPr/>
        </p:nvSpPr>
        <p:spPr>
          <a:xfrm>
            <a:off x="7406640" y="1702260"/>
            <a:ext cx="1645561" cy="19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Mitigación</a:t>
            </a:r>
            <a:endParaRPr/>
          </a:p>
        </p:txBody>
      </p:sp>
      <p:sp>
        <p:nvSpPr>
          <p:cNvPr id="461" name="Google Shape;461;p21"/>
          <p:cNvSpPr txBox="1"/>
          <p:nvPr/>
        </p:nvSpPr>
        <p:spPr>
          <a:xfrm>
            <a:off x="9701640" y="1702260"/>
            <a:ext cx="1599841" cy="19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/>
          </a:p>
        </p:txBody>
      </p:sp>
      <p:sp>
        <p:nvSpPr>
          <p:cNvPr id="462" name="Google Shape;462;p21"/>
          <p:cNvSpPr/>
          <p:nvPr/>
        </p:nvSpPr>
        <p:spPr>
          <a:xfrm>
            <a:off x="585360" y="1994940"/>
            <a:ext cx="11018161" cy="658081"/>
          </a:xfrm>
          <a:prstGeom prst="roundRect">
            <a:avLst>
              <a:gd name="adj" fmla="val 11111"/>
            </a:avLst>
          </a:prstGeom>
          <a:solidFill>
            <a:srgbClr val="F2D7D3"/>
          </a:solidFill>
          <a:ln w="11425" cap="flat" cmpd="sng">
            <a:solidFill>
              <a:srgbClr val="B64A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1"/>
          <p:cNvSpPr/>
          <p:nvPr/>
        </p:nvSpPr>
        <p:spPr>
          <a:xfrm>
            <a:off x="749880" y="2168820"/>
            <a:ext cx="749520" cy="273961"/>
          </a:xfrm>
          <a:prstGeom prst="roundRect">
            <a:avLst>
              <a:gd name="adj" fmla="val 26667"/>
            </a:avLst>
          </a:prstGeom>
          <a:solidFill>
            <a:srgbClr val="B64A3B"/>
          </a:solidFill>
          <a:ln w="12700" cap="flat" cmpd="sng">
            <a:solidFill>
              <a:srgbClr val="B64A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1"/>
          <p:cNvSpPr txBox="1"/>
          <p:nvPr/>
        </p:nvSpPr>
        <p:spPr>
          <a:xfrm>
            <a:off x="795599" y="2240748"/>
            <a:ext cx="658081" cy="13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CRÍTICO</a:t>
            </a:r>
            <a:endParaRPr/>
          </a:p>
        </p:txBody>
      </p:sp>
      <p:sp>
        <p:nvSpPr>
          <p:cNvPr id="465" name="Google Shape;465;p21"/>
          <p:cNvSpPr txBox="1"/>
          <p:nvPr/>
        </p:nvSpPr>
        <p:spPr>
          <a:xfrm>
            <a:off x="1618559" y="2188027"/>
            <a:ext cx="1051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/>
          </a:p>
        </p:txBody>
      </p:sp>
      <p:sp>
        <p:nvSpPr>
          <p:cNvPr id="466" name="Google Shape;466;p21"/>
          <p:cNvSpPr txBox="1"/>
          <p:nvPr/>
        </p:nvSpPr>
        <p:spPr>
          <a:xfrm>
            <a:off x="2907720" y="2104740"/>
            <a:ext cx="2441160" cy="40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32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7232C"/>
                </a:solidFill>
                <a:latin typeface="Arial"/>
                <a:ea typeface="Arial"/>
                <a:cs typeface="Arial"/>
                <a:sym typeface="Arial"/>
              </a:rPr>
              <a:t>Etiquetas incompletas o motivos inconsistentes.</a:t>
            </a:r>
            <a:endParaRPr/>
          </a:p>
        </p:txBody>
      </p:sp>
      <p:sp>
        <p:nvSpPr>
          <p:cNvPr id="467" name="Google Shape;467;p21"/>
          <p:cNvSpPr txBox="1"/>
          <p:nvPr/>
        </p:nvSpPr>
        <p:spPr>
          <a:xfrm>
            <a:off x="5586839" y="2150460"/>
            <a:ext cx="1554122" cy="328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260"/>
              <a:buFont typeface="Arial"/>
              <a:buNone/>
            </a:pPr>
            <a:r>
              <a:rPr lang="en-US" sz="1260" b="0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Score poco confiable.</a:t>
            </a:r>
            <a:endParaRPr/>
          </a:p>
        </p:txBody>
      </p:sp>
      <p:sp>
        <p:nvSpPr>
          <p:cNvPr id="468" name="Google Shape;468;p21"/>
          <p:cNvSpPr txBox="1"/>
          <p:nvPr/>
        </p:nvSpPr>
        <p:spPr>
          <a:xfrm>
            <a:off x="7406651" y="2104750"/>
            <a:ext cx="2239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Perfilar y depurar 12 meses; validación temporal.</a:t>
            </a:r>
            <a:endParaRPr/>
          </a:p>
        </p:txBody>
      </p:sp>
      <p:sp>
        <p:nvSpPr>
          <p:cNvPr id="469" name="Google Shape;469;p21"/>
          <p:cNvSpPr txBox="1"/>
          <p:nvPr/>
        </p:nvSpPr>
        <p:spPr>
          <a:xfrm>
            <a:off x="9701640" y="2104740"/>
            <a:ext cx="1627201" cy="40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Cobertura y calidad mínima.</a:t>
            </a:r>
            <a:endParaRPr/>
          </a:p>
        </p:txBody>
      </p:sp>
      <p:sp>
        <p:nvSpPr>
          <p:cNvPr id="470" name="Google Shape;470;p21"/>
          <p:cNvSpPr/>
          <p:nvPr/>
        </p:nvSpPr>
        <p:spPr>
          <a:xfrm>
            <a:off x="585360" y="2808900"/>
            <a:ext cx="11018161" cy="658081"/>
          </a:xfrm>
          <a:prstGeom prst="roundRect">
            <a:avLst>
              <a:gd name="adj" fmla="val 11111"/>
            </a:avLst>
          </a:prstGeom>
          <a:solidFill>
            <a:srgbClr val="F2D7D3"/>
          </a:solidFill>
          <a:ln w="11425" cap="flat" cmpd="sng">
            <a:solidFill>
              <a:srgbClr val="B64A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1"/>
          <p:cNvSpPr/>
          <p:nvPr/>
        </p:nvSpPr>
        <p:spPr>
          <a:xfrm>
            <a:off x="749880" y="2982420"/>
            <a:ext cx="749520" cy="273961"/>
          </a:xfrm>
          <a:prstGeom prst="roundRect">
            <a:avLst>
              <a:gd name="adj" fmla="val 26667"/>
            </a:avLst>
          </a:prstGeom>
          <a:solidFill>
            <a:srgbClr val="B64A3B"/>
          </a:solidFill>
          <a:ln w="12700" cap="flat" cmpd="sng">
            <a:solidFill>
              <a:srgbClr val="B64A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1"/>
          <p:cNvSpPr txBox="1"/>
          <p:nvPr/>
        </p:nvSpPr>
        <p:spPr>
          <a:xfrm>
            <a:off x="795599" y="3054347"/>
            <a:ext cx="658081" cy="135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CRÍTICO</a:t>
            </a:r>
            <a:endParaRPr/>
          </a:p>
        </p:txBody>
      </p:sp>
      <p:sp>
        <p:nvSpPr>
          <p:cNvPr id="473" name="Google Shape;473;p21"/>
          <p:cNvSpPr txBox="1"/>
          <p:nvPr/>
        </p:nvSpPr>
        <p:spPr>
          <a:xfrm>
            <a:off x="1618559" y="2989560"/>
            <a:ext cx="1051201" cy="27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NEGOCIO</a:t>
            </a:r>
            <a:endParaRPr/>
          </a:p>
        </p:txBody>
      </p:sp>
      <p:sp>
        <p:nvSpPr>
          <p:cNvPr id="474" name="Google Shape;474;p21"/>
          <p:cNvSpPr txBox="1"/>
          <p:nvPr/>
        </p:nvSpPr>
        <p:spPr>
          <a:xfrm>
            <a:off x="2907720" y="2918700"/>
            <a:ext cx="2441160" cy="40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32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7232C"/>
                </a:solidFill>
                <a:latin typeface="Arial"/>
                <a:ea typeface="Arial"/>
                <a:cs typeface="Arial"/>
                <a:sym typeface="Arial"/>
              </a:rPr>
              <a:t>Falsos positivos afectan conversión o experiencia.</a:t>
            </a:r>
            <a:endParaRPr/>
          </a:p>
        </p:txBody>
      </p:sp>
      <p:sp>
        <p:nvSpPr>
          <p:cNvPr id="475" name="Google Shape;475;p21"/>
          <p:cNvSpPr txBox="1"/>
          <p:nvPr/>
        </p:nvSpPr>
        <p:spPr>
          <a:xfrm>
            <a:off x="5586839" y="2964420"/>
            <a:ext cx="1554122" cy="328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Pérdida de ventas.</a:t>
            </a:r>
            <a:endParaRPr/>
          </a:p>
        </p:txBody>
      </p:sp>
      <p:sp>
        <p:nvSpPr>
          <p:cNvPr id="476" name="Google Shape;476;p21"/>
          <p:cNvSpPr txBox="1"/>
          <p:nvPr/>
        </p:nvSpPr>
        <p:spPr>
          <a:xfrm>
            <a:off x="7406640" y="2918700"/>
            <a:ext cx="2057041" cy="40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Umbral conservador + revisión humana.</a:t>
            </a:r>
            <a:endParaRPr/>
          </a:p>
        </p:txBody>
      </p:sp>
      <p:sp>
        <p:nvSpPr>
          <p:cNvPr id="477" name="Google Shape;477;p21"/>
          <p:cNvSpPr txBox="1"/>
          <p:nvPr/>
        </p:nvSpPr>
        <p:spPr>
          <a:xfrm>
            <a:off x="9701652" y="2918700"/>
            <a:ext cx="1911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Costo de error vs. costo de devolución.</a:t>
            </a:r>
            <a:endParaRPr/>
          </a:p>
        </p:txBody>
      </p:sp>
      <p:sp>
        <p:nvSpPr>
          <p:cNvPr id="478" name="Google Shape;478;p21"/>
          <p:cNvSpPr/>
          <p:nvPr/>
        </p:nvSpPr>
        <p:spPr>
          <a:xfrm>
            <a:off x="585360" y="3622500"/>
            <a:ext cx="11018161" cy="658081"/>
          </a:xfrm>
          <a:prstGeom prst="roundRect">
            <a:avLst>
              <a:gd name="adj" fmla="val 11111"/>
            </a:avLst>
          </a:prstGeom>
          <a:solidFill>
            <a:srgbClr val="F2D7D3"/>
          </a:solidFill>
          <a:ln w="11425" cap="flat" cmpd="sng">
            <a:solidFill>
              <a:srgbClr val="B64A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1"/>
          <p:cNvSpPr/>
          <p:nvPr/>
        </p:nvSpPr>
        <p:spPr>
          <a:xfrm>
            <a:off x="749880" y="3796380"/>
            <a:ext cx="749520" cy="273961"/>
          </a:xfrm>
          <a:prstGeom prst="roundRect">
            <a:avLst>
              <a:gd name="adj" fmla="val 26667"/>
            </a:avLst>
          </a:prstGeom>
          <a:solidFill>
            <a:srgbClr val="B64A3B"/>
          </a:solidFill>
          <a:ln w="12700" cap="flat" cmpd="sng">
            <a:solidFill>
              <a:srgbClr val="B64A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1"/>
          <p:cNvSpPr txBox="1"/>
          <p:nvPr/>
        </p:nvSpPr>
        <p:spPr>
          <a:xfrm>
            <a:off x="795599" y="3868307"/>
            <a:ext cx="658081" cy="135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CRÍTICO</a:t>
            </a:r>
            <a:endParaRPr/>
          </a:p>
        </p:txBody>
      </p:sp>
      <p:sp>
        <p:nvSpPr>
          <p:cNvPr id="481" name="Google Shape;481;p21"/>
          <p:cNvSpPr txBox="1"/>
          <p:nvPr/>
        </p:nvSpPr>
        <p:spPr>
          <a:xfrm>
            <a:off x="1618559" y="3822629"/>
            <a:ext cx="1051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ADOPCIÓN</a:t>
            </a:r>
            <a:endParaRPr/>
          </a:p>
        </p:txBody>
      </p:sp>
      <p:sp>
        <p:nvSpPr>
          <p:cNvPr id="482" name="Google Shape;482;p21"/>
          <p:cNvSpPr txBox="1"/>
          <p:nvPr/>
        </p:nvSpPr>
        <p:spPr>
          <a:xfrm>
            <a:off x="2907720" y="3732300"/>
            <a:ext cx="2441160" cy="40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32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7232C"/>
                </a:solidFill>
                <a:latin typeface="Arial"/>
                <a:ea typeface="Arial"/>
                <a:cs typeface="Arial"/>
                <a:sym typeface="Arial"/>
              </a:rPr>
              <a:t>El equipo no actúa sobre la alerta.</a:t>
            </a:r>
            <a:endParaRPr/>
          </a:p>
        </p:txBody>
      </p:sp>
      <p:sp>
        <p:nvSpPr>
          <p:cNvPr id="483" name="Google Shape;483;p21"/>
          <p:cNvSpPr txBox="1"/>
          <p:nvPr/>
        </p:nvSpPr>
        <p:spPr>
          <a:xfrm>
            <a:off x="5586839" y="3778020"/>
            <a:ext cx="1554122" cy="40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Modelo útil, impacto nulo.</a:t>
            </a:r>
            <a:endParaRPr/>
          </a:p>
        </p:txBody>
      </p:sp>
      <p:sp>
        <p:nvSpPr>
          <p:cNvPr id="484" name="Google Shape;484;p21"/>
          <p:cNvSpPr txBox="1"/>
          <p:nvPr/>
        </p:nvSpPr>
        <p:spPr>
          <a:xfrm>
            <a:off x="7406640" y="3732300"/>
            <a:ext cx="2057041" cy="40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Co-diseñar alerta, motivo y SOP.</a:t>
            </a:r>
            <a:endParaRPr/>
          </a:p>
        </p:txBody>
      </p:sp>
      <p:sp>
        <p:nvSpPr>
          <p:cNvPr id="485" name="Google Shape;485;p21"/>
          <p:cNvSpPr txBox="1"/>
          <p:nvPr/>
        </p:nvSpPr>
        <p:spPr>
          <a:xfrm>
            <a:off x="9701640" y="3732300"/>
            <a:ext cx="1627201" cy="40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Tasa de acción y utilidad percibida.</a:t>
            </a:r>
            <a:endParaRPr/>
          </a:p>
        </p:txBody>
      </p:sp>
      <p:sp>
        <p:nvSpPr>
          <p:cNvPr id="486" name="Google Shape;486;p21"/>
          <p:cNvSpPr/>
          <p:nvPr/>
        </p:nvSpPr>
        <p:spPr>
          <a:xfrm>
            <a:off x="585360" y="4436460"/>
            <a:ext cx="11018161" cy="658081"/>
          </a:xfrm>
          <a:prstGeom prst="roundRect">
            <a:avLst>
              <a:gd name="adj" fmla="val 11111"/>
            </a:avLst>
          </a:prstGeom>
          <a:solidFill>
            <a:srgbClr val="F6E5C8"/>
          </a:solidFill>
          <a:ln w="11425" cap="flat" cmpd="sng">
            <a:solidFill>
              <a:srgbClr val="C889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1"/>
          <p:cNvSpPr/>
          <p:nvPr/>
        </p:nvSpPr>
        <p:spPr>
          <a:xfrm>
            <a:off x="749880" y="4610340"/>
            <a:ext cx="749520" cy="273961"/>
          </a:xfrm>
          <a:prstGeom prst="roundRect">
            <a:avLst>
              <a:gd name="adj" fmla="val 26667"/>
            </a:avLst>
          </a:prstGeom>
          <a:solidFill>
            <a:srgbClr val="C88932"/>
          </a:solidFill>
          <a:ln w="12700" cap="flat" cmpd="sng">
            <a:solidFill>
              <a:srgbClr val="C889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1"/>
          <p:cNvSpPr txBox="1"/>
          <p:nvPr/>
        </p:nvSpPr>
        <p:spPr>
          <a:xfrm>
            <a:off x="795599" y="4681908"/>
            <a:ext cx="658081" cy="13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/>
          </a:p>
        </p:txBody>
      </p:sp>
      <p:sp>
        <p:nvSpPr>
          <p:cNvPr id="489" name="Google Shape;489;p21"/>
          <p:cNvSpPr txBox="1"/>
          <p:nvPr/>
        </p:nvSpPr>
        <p:spPr>
          <a:xfrm>
            <a:off x="1618560" y="4591980"/>
            <a:ext cx="1051201" cy="275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INTEGRACIÓN / SEGURIDAD</a:t>
            </a:r>
            <a:endParaRPr/>
          </a:p>
        </p:txBody>
      </p:sp>
      <p:sp>
        <p:nvSpPr>
          <p:cNvPr id="490" name="Google Shape;490;p21"/>
          <p:cNvSpPr txBox="1"/>
          <p:nvPr/>
        </p:nvSpPr>
        <p:spPr>
          <a:xfrm>
            <a:off x="2907720" y="4546260"/>
            <a:ext cx="2441160" cy="40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32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7232C"/>
                </a:solidFill>
                <a:latin typeface="Arial"/>
                <a:ea typeface="Arial"/>
                <a:cs typeface="Arial"/>
                <a:sym typeface="Arial"/>
              </a:rPr>
              <a:t>Acceso o aprobación técnica retrasan el piloto.</a:t>
            </a:r>
            <a:endParaRPr/>
          </a:p>
        </p:txBody>
      </p:sp>
      <p:sp>
        <p:nvSpPr>
          <p:cNvPr id="491" name="Google Shape;491;p21"/>
          <p:cNvSpPr txBox="1"/>
          <p:nvPr/>
        </p:nvSpPr>
        <p:spPr>
          <a:xfrm>
            <a:off x="5586839" y="4591980"/>
            <a:ext cx="1554122" cy="40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Desplazamiento del plan.</a:t>
            </a:r>
            <a:endParaRPr/>
          </a:p>
        </p:txBody>
      </p:sp>
      <p:sp>
        <p:nvSpPr>
          <p:cNvPr id="492" name="Google Shape;492;p21"/>
          <p:cNvSpPr txBox="1"/>
          <p:nvPr/>
        </p:nvSpPr>
        <p:spPr>
          <a:xfrm>
            <a:off x="7406640" y="4546260"/>
            <a:ext cx="2057041" cy="40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Conexión pasiva, mínimo dato y entorno seguro.</a:t>
            </a:r>
            <a:endParaRPr/>
          </a:p>
        </p:txBody>
      </p:sp>
      <p:sp>
        <p:nvSpPr>
          <p:cNvPr id="493" name="Google Shape;493;p21"/>
          <p:cNvSpPr txBox="1"/>
          <p:nvPr/>
        </p:nvSpPr>
        <p:spPr>
          <a:xfrm>
            <a:off x="9701650" y="4546250"/>
            <a:ext cx="1911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API/CSV y controles requeridos.</a:t>
            </a:r>
            <a:endParaRPr/>
          </a:p>
        </p:txBody>
      </p:sp>
      <p:sp>
        <p:nvSpPr>
          <p:cNvPr id="494" name="Google Shape;494;p21"/>
          <p:cNvSpPr/>
          <p:nvPr/>
        </p:nvSpPr>
        <p:spPr>
          <a:xfrm>
            <a:off x="585360" y="5250420"/>
            <a:ext cx="11018161" cy="658081"/>
          </a:xfrm>
          <a:prstGeom prst="roundRect">
            <a:avLst>
              <a:gd name="adj" fmla="val 11111"/>
            </a:avLst>
          </a:prstGeom>
          <a:solidFill>
            <a:srgbClr val="FFFDF9"/>
          </a:solidFill>
          <a:ln w="9525" cap="flat" cmpd="sng">
            <a:solidFill>
              <a:srgbClr val="D8CD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1"/>
          <p:cNvSpPr/>
          <p:nvPr/>
        </p:nvSpPr>
        <p:spPr>
          <a:xfrm>
            <a:off x="749880" y="5423940"/>
            <a:ext cx="749520" cy="273961"/>
          </a:xfrm>
          <a:prstGeom prst="roundRect">
            <a:avLst>
              <a:gd name="adj" fmla="val 26667"/>
            </a:avLst>
          </a:prstGeom>
          <a:solidFill>
            <a:srgbClr val="756F68"/>
          </a:solidFill>
          <a:ln w="12700" cap="flat" cmpd="sng">
            <a:solidFill>
              <a:srgbClr val="756F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1"/>
          <p:cNvSpPr txBox="1"/>
          <p:nvPr/>
        </p:nvSpPr>
        <p:spPr>
          <a:xfrm>
            <a:off x="795599" y="5495868"/>
            <a:ext cx="658081" cy="13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MEDIO</a:t>
            </a:r>
            <a:endParaRPr/>
          </a:p>
        </p:txBody>
      </p:sp>
      <p:sp>
        <p:nvSpPr>
          <p:cNvPr id="497" name="Google Shape;497;p21"/>
          <p:cNvSpPr txBox="1"/>
          <p:nvPr/>
        </p:nvSpPr>
        <p:spPr>
          <a:xfrm>
            <a:off x="1618559" y="5442480"/>
            <a:ext cx="1051201" cy="27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358"/>
              <a:buFont typeface="Arial"/>
              <a:buNone/>
            </a:pPr>
            <a:r>
              <a:rPr lang="en-US" sz="1358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OPERACIÓN</a:t>
            </a:r>
            <a:endParaRPr/>
          </a:p>
        </p:txBody>
      </p:sp>
      <p:sp>
        <p:nvSpPr>
          <p:cNvPr id="498" name="Google Shape;498;p21"/>
          <p:cNvSpPr txBox="1"/>
          <p:nvPr/>
        </p:nvSpPr>
        <p:spPr>
          <a:xfrm>
            <a:off x="2907720" y="5359860"/>
            <a:ext cx="2441160" cy="40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32C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7232C"/>
                </a:solidFill>
                <a:latin typeface="Arial"/>
                <a:ea typeface="Arial"/>
                <a:cs typeface="Arial"/>
                <a:sym typeface="Arial"/>
              </a:rPr>
              <a:t>No existe línea base del costo por devolución.</a:t>
            </a:r>
            <a:endParaRPr/>
          </a:p>
        </p:txBody>
      </p:sp>
      <p:sp>
        <p:nvSpPr>
          <p:cNvPr id="499" name="Google Shape;499;p21"/>
          <p:cNvSpPr txBox="1"/>
          <p:nvPr/>
        </p:nvSpPr>
        <p:spPr>
          <a:xfrm>
            <a:off x="5586839" y="5405580"/>
            <a:ext cx="1554122" cy="328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316"/>
              <a:buFont typeface="Arial"/>
              <a:buNone/>
            </a:pPr>
            <a:r>
              <a:rPr lang="en-US" sz="1316" b="0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ROI no demostrable.</a:t>
            </a:r>
            <a:endParaRPr/>
          </a:p>
        </p:txBody>
      </p:sp>
      <p:sp>
        <p:nvSpPr>
          <p:cNvPr id="500" name="Google Shape;500;p21"/>
          <p:cNvSpPr txBox="1"/>
          <p:nvPr/>
        </p:nvSpPr>
        <p:spPr>
          <a:xfrm>
            <a:off x="7406640" y="5359860"/>
            <a:ext cx="2057041" cy="40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Definir fórmula y captura antes del piloto.</a:t>
            </a:r>
            <a:endParaRPr/>
          </a:p>
        </p:txBody>
      </p:sp>
      <p:sp>
        <p:nvSpPr>
          <p:cNvPr id="501" name="Google Shape;501;p21"/>
          <p:cNvSpPr txBox="1"/>
          <p:nvPr/>
        </p:nvSpPr>
        <p:spPr>
          <a:xfrm>
            <a:off x="9701640" y="5359860"/>
            <a:ext cx="1627201" cy="40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Costo real por devolución.</a:t>
            </a:r>
            <a:endParaRPr/>
          </a:p>
        </p:txBody>
      </p:sp>
      <p:pic>
        <p:nvPicPr>
          <p:cNvPr id="502" name="Google Shape;502;p21" descr="Google Shape;3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22" descr="Image 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3094" y="256031"/>
            <a:ext cx="662332" cy="502921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22"/>
          <p:cNvSpPr txBox="1"/>
          <p:nvPr/>
        </p:nvSpPr>
        <p:spPr>
          <a:xfrm>
            <a:off x="566927" y="457707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NEGOCIO / 01 · WHAT IS GOING TO GIVE</a:t>
            </a:r>
            <a:endParaRPr/>
          </a:p>
        </p:txBody>
      </p:sp>
      <p:sp>
        <p:nvSpPr>
          <p:cNvPr id="509" name="Google Shape;509;p22"/>
          <p:cNvSpPr txBox="1"/>
          <p:nvPr/>
        </p:nvSpPr>
        <p:spPr>
          <a:xfrm>
            <a:off x="6400800" y="6511036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REGLA DE DECISIÓN</a:t>
            </a:r>
            <a:endParaRPr/>
          </a:p>
        </p:txBody>
      </p:sp>
      <p:sp>
        <p:nvSpPr>
          <p:cNvPr id="510" name="Google Shape;510;p22"/>
          <p:cNvSpPr txBox="1"/>
          <p:nvPr/>
        </p:nvSpPr>
        <p:spPr>
          <a:xfrm>
            <a:off x="566927" y="749807"/>
            <a:ext cx="10607042" cy="354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2400"/>
              <a:buFont typeface="Overlock"/>
              <a:buNone/>
            </a:pPr>
            <a:r>
              <a:rPr lang="en-US" sz="2400" b="1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Protegemos la calidad — Flexibilizamos el alcance</a:t>
            </a:r>
            <a:endParaRPr/>
          </a:p>
        </p:txBody>
      </p:sp>
      <p:sp>
        <p:nvSpPr>
          <p:cNvPr id="511" name="Google Shape;511;p22"/>
          <p:cNvSpPr txBox="1"/>
          <p:nvPr/>
        </p:nvSpPr>
        <p:spPr>
          <a:xfrm>
            <a:off x="566927" y="1508760"/>
            <a:ext cx="10058401" cy="207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Cuando las restricciones entren en conflicto, esta es nuestra regla de decisión.</a:t>
            </a:r>
            <a:endParaRPr/>
          </a:p>
        </p:txBody>
      </p:sp>
      <p:sp>
        <p:nvSpPr>
          <p:cNvPr id="512" name="Google Shape;512;p22"/>
          <p:cNvSpPr/>
          <p:nvPr/>
        </p:nvSpPr>
        <p:spPr>
          <a:xfrm>
            <a:off x="566927" y="2148839"/>
            <a:ext cx="2670050" cy="2606041"/>
          </a:xfrm>
          <a:prstGeom prst="roundRect">
            <a:avLst>
              <a:gd name="adj" fmla="val 2807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2"/>
          <p:cNvSpPr txBox="1"/>
          <p:nvPr/>
        </p:nvSpPr>
        <p:spPr>
          <a:xfrm>
            <a:off x="822960" y="2439669"/>
            <a:ext cx="914401" cy="241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600"/>
              <a:buFont typeface="Overlock"/>
              <a:buNone/>
            </a:pPr>
            <a:r>
              <a:rPr lang="en-US" sz="1600" b="1" i="0" u="none" strike="noStrike" cap="none">
                <a:solidFill>
                  <a:srgbClr val="756F68"/>
                </a:solidFill>
                <a:latin typeface="Overlock"/>
                <a:ea typeface="Overlock"/>
                <a:cs typeface="Overlock"/>
                <a:sym typeface="Overlock"/>
              </a:rPr>
              <a:t>01</a:t>
            </a:r>
            <a:endParaRPr/>
          </a:p>
        </p:txBody>
      </p:sp>
      <p:sp>
        <p:nvSpPr>
          <p:cNvPr id="514" name="Google Shape;514;p22"/>
          <p:cNvSpPr txBox="1"/>
          <p:nvPr/>
        </p:nvSpPr>
        <p:spPr>
          <a:xfrm>
            <a:off x="822960" y="2816859"/>
            <a:ext cx="2212849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TIEMPO</a:t>
            </a:r>
            <a:endParaRPr/>
          </a:p>
        </p:txBody>
      </p:sp>
      <p:sp>
        <p:nvSpPr>
          <p:cNvPr id="515" name="Google Shape;515;p22"/>
          <p:cNvSpPr/>
          <p:nvPr/>
        </p:nvSpPr>
        <p:spPr>
          <a:xfrm>
            <a:off x="822960" y="3044951"/>
            <a:ext cx="1554481" cy="329185"/>
          </a:xfrm>
          <a:prstGeom prst="roundRect">
            <a:avLst>
              <a:gd name="adj" fmla="val 50000"/>
            </a:avLst>
          </a:prstGeom>
          <a:solidFill>
            <a:srgbClr val="15304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2"/>
          <p:cNvSpPr txBox="1"/>
          <p:nvPr/>
        </p:nvSpPr>
        <p:spPr>
          <a:xfrm>
            <a:off x="822960" y="3141771"/>
            <a:ext cx="1554481" cy="13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FIJO</a:t>
            </a:r>
            <a:endParaRPr/>
          </a:p>
        </p:txBody>
      </p:sp>
      <p:sp>
        <p:nvSpPr>
          <p:cNvPr id="517" name="Google Shape;517;p22"/>
          <p:cNvSpPr txBox="1"/>
          <p:nvPr/>
        </p:nvSpPr>
        <p:spPr>
          <a:xfrm>
            <a:off x="822960" y="3520440"/>
            <a:ext cx="2212849" cy="400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12 semanas para validar el MVP</a:t>
            </a:r>
            <a:endParaRPr/>
          </a:p>
        </p:txBody>
      </p:sp>
      <p:sp>
        <p:nvSpPr>
          <p:cNvPr id="518" name="Google Shape;518;p22"/>
          <p:cNvSpPr txBox="1"/>
          <p:nvPr/>
        </p:nvSpPr>
        <p:spPr>
          <a:xfrm>
            <a:off x="822960" y="4355343"/>
            <a:ext cx="2212849" cy="15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000"/>
              <a:buFont typeface="Arial"/>
              <a:buNone/>
            </a:pPr>
            <a:r>
              <a:rPr lang="en-US" sz="1000" b="0" i="1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La fecha no se desplaza.</a:t>
            </a:r>
            <a:endParaRPr/>
          </a:p>
        </p:txBody>
      </p:sp>
      <p:sp>
        <p:nvSpPr>
          <p:cNvPr id="519" name="Google Shape;519;p22"/>
          <p:cNvSpPr/>
          <p:nvPr/>
        </p:nvSpPr>
        <p:spPr>
          <a:xfrm>
            <a:off x="3355847" y="2148839"/>
            <a:ext cx="2670049" cy="2606041"/>
          </a:xfrm>
          <a:prstGeom prst="roundRect">
            <a:avLst>
              <a:gd name="adj" fmla="val 2807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2"/>
          <p:cNvSpPr txBox="1"/>
          <p:nvPr/>
        </p:nvSpPr>
        <p:spPr>
          <a:xfrm>
            <a:off x="3611879" y="2439669"/>
            <a:ext cx="914401" cy="241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600"/>
              <a:buFont typeface="Overlock"/>
              <a:buNone/>
            </a:pPr>
            <a:r>
              <a:rPr lang="en-US" sz="1600" b="1" i="0" u="none" strike="noStrike" cap="none">
                <a:solidFill>
                  <a:srgbClr val="756F68"/>
                </a:solidFill>
                <a:latin typeface="Overlock"/>
                <a:ea typeface="Overlock"/>
                <a:cs typeface="Overlock"/>
                <a:sym typeface="Overlock"/>
              </a:rPr>
              <a:t>02</a:t>
            </a:r>
            <a:endParaRPr/>
          </a:p>
        </p:txBody>
      </p:sp>
      <p:sp>
        <p:nvSpPr>
          <p:cNvPr id="521" name="Google Shape;521;p22"/>
          <p:cNvSpPr txBox="1"/>
          <p:nvPr/>
        </p:nvSpPr>
        <p:spPr>
          <a:xfrm>
            <a:off x="3611879" y="2816859"/>
            <a:ext cx="2212849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PRESUPUESTO</a:t>
            </a:r>
            <a:endParaRPr/>
          </a:p>
        </p:txBody>
      </p:sp>
      <p:sp>
        <p:nvSpPr>
          <p:cNvPr id="522" name="Google Shape;522;p22"/>
          <p:cNvSpPr/>
          <p:nvPr/>
        </p:nvSpPr>
        <p:spPr>
          <a:xfrm>
            <a:off x="3611879" y="3044951"/>
            <a:ext cx="1554481" cy="329185"/>
          </a:xfrm>
          <a:prstGeom prst="roundRect">
            <a:avLst>
              <a:gd name="adj" fmla="val 50000"/>
            </a:avLst>
          </a:prstGeom>
          <a:solidFill>
            <a:srgbClr val="15304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2"/>
          <p:cNvSpPr txBox="1"/>
          <p:nvPr/>
        </p:nvSpPr>
        <p:spPr>
          <a:xfrm>
            <a:off x="3611879" y="3141771"/>
            <a:ext cx="1554481" cy="13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LIMITADO</a:t>
            </a:r>
            <a:endParaRPr/>
          </a:p>
        </p:txBody>
      </p:sp>
      <p:sp>
        <p:nvSpPr>
          <p:cNvPr id="524" name="Google Shape;524;p22"/>
          <p:cNvSpPr txBox="1"/>
          <p:nvPr/>
        </p:nvSpPr>
        <p:spPr>
          <a:xfrm>
            <a:off x="3611879" y="3520440"/>
            <a:ext cx="2212849" cy="19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Máximo 30.000 €</a:t>
            </a:r>
            <a:endParaRPr/>
          </a:p>
        </p:txBody>
      </p:sp>
      <p:sp>
        <p:nvSpPr>
          <p:cNvPr id="525" name="Google Shape;525;p22"/>
          <p:cNvSpPr txBox="1"/>
          <p:nvPr/>
        </p:nvSpPr>
        <p:spPr>
          <a:xfrm>
            <a:off x="3611879" y="4355343"/>
            <a:ext cx="2212849" cy="15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000"/>
              <a:buFont typeface="Arial"/>
              <a:buNone/>
            </a:pPr>
            <a:r>
              <a:rPr lang="en-US" sz="1000" b="0" i="1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No añadimos recursos sin validar.</a:t>
            </a:r>
            <a:endParaRPr/>
          </a:p>
        </p:txBody>
      </p:sp>
      <p:sp>
        <p:nvSpPr>
          <p:cNvPr id="526" name="Google Shape;526;p22"/>
          <p:cNvSpPr/>
          <p:nvPr/>
        </p:nvSpPr>
        <p:spPr>
          <a:xfrm>
            <a:off x="6144767" y="2148839"/>
            <a:ext cx="2670050" cy="2606041"/>
          </a:xfrm>
          <a:prstGeom prst="roundRect">
            <a:avLst>
              <a:gd name="adj" fmla="val 2807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2"/>
          <p:cNvSpPr txBox="1"/>
          <p:nvPr/>
        </p:nvSpPr>
        <p:spPr>
          <a:xfrm>
            <a:off x="6400800" y="2439669"/>
            <a:ext cx="914400" cy="241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600"/>
              <a:buFont typeface="Overlock"/>
              <a:buNone/>
            </a:pPr>
            <a:r>
              <a:rPr lang="en-US" sz="1600" b="1" i="0" u="none" strike="noStrike" cap="none">
                <a:solidFill>
                  <a:srgbClr val="756F68"/>
                </a:solidFill>
                <a:latin typeface="Overlock"/>
                <a:ea typeface="Overlock"/>
                <a:cs typeface="Overlock"/>
                <a:sym typeface="Overlock"/>
              </a:rPr>
              <a:t>03</a:t>
            </a:r>
            <a:endParaRPr/>
          </a:p>
        </p:txBody>
      </p:sp>
      <p:sp>
        <p:nvSpPr>
          <p:cNvPr id="528" name="Google Shape;528;p22"/>
          <p:cNvSpPr txBox="1"/>
          <p:nvPr/>
        </p:nvSpPr>
        <p:spPr>
          <a:xfrm>
            <a:off x="6400799" y="2816859"/>
            <a:ext cx="221285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CALIDAD</a:t>
            </a:r>
            <a:endParaRPr/>
          </a:p>
        </p:txBody>
      </p:sp>
      <p:sp>
        <p:nvSpPr>
          <p:cNvPr id="529" name="Google Shape;529;p22"/>
          <p:cNvSpPr/>
          <p:nvPr/>
        </p:nvSpPr>
        <p:spPr>
          <a:xfrm>
            <a:off x="6400800" y="3044951"/>
            <a:ext cx="1554481" cy="329185"/>
          </a:xfrm>
          <a:prstGeom prst="roundRect">
            <a:avLst>
              <a:gd name="adj" fmla="val 50000"/>
            </a:avLst>
          </a:prstGeom>
          <a:solidFill>
            <a:srgbClr val="1F7A5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2"/>
          <p:cNvSpPr txBox="1"/>
          <p:nvPr/>
        </p:nvSpPr>
        <p:spPr>
          <a:xfrm>
            <a:off x="6400799" y="3141771"/>
            <a:ext cx="1554482" cy="13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PROTEGIDA</a:t>
            </a:r>
            <a:endParaRPr/>
          </a:p>
        </p:txBody>
      </p:sp>
      <p:sp>
        <p:nvSpPr>
          <p:cNvPr id="531" name="Google Shape;531;p22"/>
          <p:cNvSpPr txBox="1"/>
          <p:nvPr/>
        </p:nvSpPr>
        <p:spPr>
          <a:xfrm>
            <a:off x="6400799" y="3520440"/>
            <a:ext cx="2212850" cy="400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Alertas útiles, explicables y seguras</a:t>
            </a:r>
            <a:endParaRPr/>
          </a:p>
        </p:txBody>
      </p:sp>
      <p:sp>
        <p:nvSpPr>
          <p:cNvPr id="532" name="Google Shape;532;p22"/>
          <p:cNvSpPr txBox="1"/>
          <p:nvPr/>
        </p:nvSpPr>
        <p:spPr>
          <a:xfrm>
            <a:off x="6400799" y="4355343"/>
            <a:ext cx="2212850" cy="15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000"/>
              <a:buFont typeface="Arial"/>
              <a:buNone/>
            </a:pPr>
            <a:r>
              <a:rPr lang="en-US" sz="1000" b="0" i="1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La confianza no se negocia.</a:t>
            </a:r>
            <a:endParaRPr/>
          </a:p>
        </p:txBody>
      </p:sp>
      <p:sp>
        <p:nvSpPr>
          <p:cNvPr id="533" name="Google Shape;533;p22"/>
          <p:cNvSpPr/>
          <p:nvPr/>
        </p:nvSpPr>
        <p:spPr>
          <a:xfrm>
            <a:off x="8933688" y="2148839"/>
            <a:ext cx="2670049" cy="2606041"/>
          </a:xfrm>
          <a:prstGeom prst="roundRect">
            <a:avLst>
              <a:gd name="adj" fmla="val 2807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2"/>
          <p:cNvSpPr txBox="1"/>
          <p:nvPr/>
        </p:nvSpPr>
        <p:spPr>
          <a:xfrm>
            <a:off x="9189719" y="2439669"/>
            <a:ext cx="914401" cy="241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600"/>
              <a:buFont typeface="Overlock"/>
              <a:buNone/>
            </a:pPr>
            <a:r>
              <a:rPr lang="en-US" sz="1600" b="1" i="0" u="none" strike="noStrike" cap="none">
                <a:solidFill>
                  <a:srgbClr val="756F68"/>
                </a:solidFill>
                <a:latin typeface="Overlock"/>
                <a:ea typeface="Overlock"/>
                <a:cs typeface="Overlock"/>
                <a:sym typeface="Overlock"/>
              </a:rPr>
              <a:t>04</a:t>
            </a:r>
            <a:endParaRPr/>
          </a:p>
        </p:txBody>
      </p:sp>
      <p:sp>
        <p:nvSpPr>
          <p:cNvPr id="535" name="Google Shape;535;p22"/>
          <p:cNvSpPr txBox="1"/>
          <p:nvPr/>
        </p:nvSpPr>
        <p:spPr>
          <a:xfrm>
            <a:off x="9189719" y="2816859"/>
            <a:ext cx="2212849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/>
          </a:p>
        </p:txBody>
      </p:sp>
      <p:sp>
        <p:nvSpPr>
          <p:cNvPr id="536" name="Google Shape;536;p22"/>
          <p:cNvSpPr/>
          <p:nvPr/>
        </p:nvSpPr>
        <p:spPr>
          <a:xfrm>
            <a:off x="9189719" y="3044951"/>
            <a:ext cx="1554481" cy="329185"/>
          </a:xfrm>
          <a:prstGeom prst="roundRect">
            <a:avLst>
              <a:gd name="adj" fmla="val 50000"/>
            </a:avLst>
          </a:prstGeom>
          <a:solidFill>
            <a:srgbClr val="F2630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2"/>
          <p:cNvSpPr txBox="1"/>
          <p:nvPr/>
        </p:nvSpPr>
        <p:spPr>
          <a:xfrm>
            <a:off x="9189719" y="3141771"/>
            <a:ext cx="1554481" cy="13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FLEXIBLE</a:t>
            </a:r>
            <a:endParaRPr/>
          </a:p>
        </p:txBody>
      </p:sp>
      <p:sp>
        <p:nvSpPr>
          <p:cNvPr id="538" name="Google Shape;538;p22"/>
          <p:cNvSpPr txBox="1"/>
          <p:nvPr/>
        </p:nvSpPr>
        <p:spPr>
          <a:xfrm>
            <a:off x="9189719" y="3520440"/>
            <a:ext cx="2212849" cy="400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Una plataforma, CSV y alertas diarias</a:t>
            </a:r>
            <a:endParaRPr/>
          </a:p>
        </p:txBody>
      </p:sp>
      <p:sp>
        <p:nvSpPr>
          <p:cNvPr id="539" name="Google Shape;539;p22"/>
          <p:cNvSpPr txBox="1"/>
          <p:nvPr/>
        </p:nvSpPr>
        <p:spPr>
          <a:xfrm>
            <a:off x="9189719" y="4355343"/>
            <a:ext cx="2212849" cy="15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000"/>
              <a:buFont typeface="Arial"/>
              <a:buNone/>
            </a:pPr>
            <a:r>
              <a:rPr lang="en-US" sz="1000" b="0" i="1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Es nuestra variable de ajuste.</a:t>
            </a:r>
            <a:endParaRPr/>
          </a:p>
        </p:txBody>
      </p:sp>
      <p:sp>
        <p:nvSpPr>
          <p:cNvPr id="540" name="Google Shape;540;p22"/>
          <p:cNvSpPr/>
          <p:nvPr/>
        </p:nvSpPr>
        <p:spPr>
          <a:xfrm>
            <a:off x="566927" y="5029200"/>
            <a:ext cx="5440681" cy="868681"/>
          </a:xfrm>
          <a:prstGeom prst="roundRect">
            <a:avLst>
              <a:gd name="adj" fmla="val 8421"/>
            </a:avLst>
          </a:prstGeom>
          <a:solidFill>
            <a:srgbClr val="FBE6D6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2"/>
          <p:cNvSpPr txBox="1"/>
          <p:nvPr/>
        </p:nvSpPr>
        <p:spPr>
          <a:xfrm>
            <a:off x="822959" y="5143500"/>
            <a:ext cx="493776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64A3B"/>
              </a:buClr>
              <a:buSzPts val="1500"/>
              <a:buFont typeface="Overlock"/>
              <a:buNone/>
            </a:pPr>
            <a:r>
              <a:rPr lang="en-US" sz="1500" b="1" i="0" u="none" strike="noStrike" cap="none">
                <a:solidFill>
                  <a:srgbClr val="B64A3B"/>
                </a:solidFill>
                <a:latin typeface="Overlock"/>
                <a:ea typeface="Overlock"/>
                <a:cs typeface="Overlock"/>
                <a:sym typeface="Overlock"/>
              </a:rPr>
              <a:t>Reducimos alcance</a:t>
            </a:r>
            <a:endParaRPr/>
          </a:p>
        </p:txBody>
      </p:sp>
      <p:sp>
        <p:nvSpPr>
          <p:cNvPr id="542" name="Google Shape;542;p22"/>
          <p:cNvSpPr txBox="1"/>
          <p:nvPr/>
        </p:nvSpPr>
        <p:spPr>
          <a:xfrm>
            <a:off x="822960" y="5549645"/>
            <a:ext cx="5029201" cy="14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Menos integraciones y funcionalidades avanzadas</a:t>
            </a:r>
            <a:endParaRPr/>
          </a:p>
        </p:txBody>
      </p:sp>
      <p:sp>
        <p:nvSpPr>
          <p:cNvPr id="543" name="Google Shape;543;p22"/>
          <p:cNvSpPr/>
          <p:nvPr/>
        </p:nvSpPr>
        <p:spPr>
          <a:xfrm>
            <a:off x="6172200" y="5029200"/>
            <a:ext cx="5440680" cy="868681"/>
          </a:xfrm>
          <a:prstGeom prst="roundRect">
            <a:avLst>
              <a:gd name="adj" fmla="val 8421"/>
            </a:avLst>
          </a:prstGeom>
          <a:solidFill>
            <a:srgbClr val="DFF0E8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2"/>
          <p:cNvSpPr txBox="1"/>
          <p:nvPr/>
        </p:nvSpPr>
        <p:spPr>
          <a:xfrm>
            <a:off x="6446519" y="5143500"/>
            <a:ext cx="493776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7A5A"/>
              </a:buClr>
              <a:buSzPts val="1500"/>
              <a:buFont typeface="Overlock"/>
              <a:buNone/>
            </a:pPr>
            <a:r>
              <a:rPr lang="en-US" sz="1500" b="1" i="0" u="none" strike="noStrike" cap="none">
                <a:solidFill>
                  <a:srgbClr val="1F7A5A"/>
                </a:solidFill>
                <a:latin typeface="Overlock"/>
                <a:ea typeface="Overlock"/>
                <a:cs typeface="Overlock"/>
                <a:sym typeface="Overlock"/>
              </a:rPr>
              <a:t>Mantenemos la confianza</a:t>
            </a:r>
            <a:endParaRPr/>
          </a:p>
        </p:txBody>
      </p:sp>
      <p:sp>
        <p:nvSpPr>
          <p:cNvPr id="545" name="Google Shape;545;p22"/>
          <p:cNvSpPr txBox="1"/>
          <p:nvPr/>
        </p:nvSpPr>
        <p:spPr>
          <a:xfrm>
            <a:off x="6446520" y="5549645"/>
            <a:ext cx="5029201" cy="147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Predicciones útiles, explicables y datos protegidos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23" descr="Image 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3094" y="256031"/>
            <a:ext cx="662332" cy="502921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23"/>
          <p:cNvSpPr txBox="1"/>
          <p:nvPr/>
        </p:nvSpPr>
        <p:spPr>
          <a:xfrm>
            <a:off x="566927" y="457707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NEGOCIO / 02 · WHAT IS GOING TO TAKE</a:t>
            </a:r>
            <a:endParaRPr/>
          </a:p>
        </p:txBody>
      </p:sp>
      <p:sp>
        <p:nvSpPr>
          <p:cNvPr id="552" name="Google Shape;552;p23"/>
          <p:cNvSpPr txBox="1"/>
          <p:nvPr/>
        </p:nvSpPr>
        <p:spPr>
          <a:xfrm>
            <a:off x="6400800" y="6511036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PLAN DE EJECUCIÓN · 12 SEMANAS</a:t>
            </a:r>
            <a:endParaRPr/>
          </a:p>
        </p:txBody>
      </p:sp>
      <p:sp>
        <p:nvSpPr>
          <p:cNvPr id="553" name="Google Shape;553;p23"/>
          <p:cNvSpPr txBox="1"/>
          <p:nvPr/>
        </p:nvSpPr>
        <p:spPr>
          <a:xfrm>
            <a:off x="566927" y="713231"/>
            <a:ext cx="7772401" cy="350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2600"/>
              <a:buFont typeface="Overlock"/>
              <a:buNone/>
            </a:pPr>
            <a:r>
              <a:rPr lang="en-US" sz="2600" b="1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12 semanas para validar el MVP</a:t>
            </a:r>
            <a:endParaRPr/>
          </a:p>
        </p:txBody>
      </p:sp>
      <p:sp>
        <p:nvSpPr>
          <p:cNvPr id="554" name="Google Shape;554;p23"/>
          <p:cNvSpPr txBox="1"/>
          <p:nvPr/>
        </p:nvSpPr>
        <p:spPr>
          <a:xfrm>
            <a:off x="566927" y="1371599"/>
            <a:ext cx="7772401" cy="20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El equipo, los datos y la inversión mínima para comprobar si podemos prevenir devoluciones.</a:t>
            </a:r>
            <a:endParaRPr/>
          </a:p>
        </p:txBody>
      </p:sp>
      <p:sp>
        <p:nvSpPr>
          <p:cNvPr id="555" name="Google Shape;555;p23"/>
          <p:cNvSpPr/>
          <p:nvPr/>
        </p:nvSpPr>
        <p:spPr>
          <a:xfrm>
            <a:off x="8869680" y="777240"/>
            <a:ext cx="2743201" cy="868681"/>
          </a:xfrm>
          <a:prstGeom prst="roundRect">
            <a:avLst>
              <a:gd name="adj" fmla="val 8421"/>
            </a:avLst>
          </a:prstGeom>
          <a:solidFill>
            <a:srgbClr val="15304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3"/>
          <p:cNvSpPr txBox="1"/>
          <p:nvPr/>
        </p:nvSpPr>
        <p:spPr>
          <a:xfrm>
            <a:off x="8869680" y="932180"/>
            <a:ext cx="2743201" cy="33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verlock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rPr>
              <a:t>15–25k €</a:t>
            </a:r>
            <a:endParaRPr/>
          </a:p>
        </p:txBody>
      </p:sp>
      <p:sp>
        <p:nvSpPr>
          <p:cNvPr id="557" name="Google Shape;557;p23"/>
          <p:cNvSpPr txBox="1"/>
          <p:nvPr/>
        </p:nvSpPr>
        <p:spPr>
          <a:xfrm>
            <a:off x="8869680" y="1399540"/>
            <a:ext cx="2743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INVERSIÓN ESTIMADA</a:t>
            </a:r>
            <a:endParaRPr/>
          </a:p>
        </p:txBody>
      </p:sp>
      <p:sp>
        <p:nvSpPr>
          <p:cNvPr id="558" name="Google Shape;558;p23"/>
          <p:cNvSpPr/>
          <p:nvPr/>
        </p:nvSpPr>
        <p:spPr>
          <a:xfrm>
            <a:off x="566927" y="2194560"/>
            <a:ext cx="2834641" cy="2606040"/>
          </a:xfrm>
          <a:prstGeom prst="roundRect">
            <a:avLst>
              <a:gd name="adj" fmla="val 2807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3"/>
          <p:cNvSpPr/>
          <p:nvPr/>
        </p:nvSpPr>
        <p:spPr>
          <a:xfrm>
            <a:off x="822960" y="2450592"/>
            <a:ext cx="457201" cy="457201"/>
          </a:xfrm>
          <a:prstGeom prst="ellipse">
            <a:avLst/>
          </a:prstGeom>
          <a:solidFill>
            <a:srgbClr val="FBE6D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0" name="Google Shape;560;p23" descr="Image 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1832" y="2569464"/>
            <a:ext cx="219457" cy="219457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23"/>
          <p:cNvSpPr txBox="1"/>
          <p:nvPr/>
        </p:nvSpPr>
        <p:spPr>
          <a:xfrm>
            <a:off x="1389888" y="2583179"/>
            <a:ext cx="1828801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500"/>
              <a:buFont typeface="Overlock"/>
              <a:buNone/>
            </a:pPr>
            <a:r>
              <a:rPr lang="en-US" sz="1500" b="1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Equipo</a:t>
            </a:r>
            <a:endParaRPr/>
          </a:p>
        </p:txBody>
      </p:sp>
      <p:sp>
        <p:nvSpPr>
          <p:cNvPr id="562" name="Google Shape;562;p23"/>
          <p:cNvSpPr txBox="1"/>
          <p:nvPr/>
        </p:nvSpPr>
        <p:spPr>
          <a:xfrm>
            <a:off x="841247" y="3063239"/>
            <a:ext cx="2331722" cy="971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52400" marR="0" lvl="0" indent="-15240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Product Manager: producto, coordinación del piloto, contacto con tiendas y UX básico.</a:t>
            </a:r>
            <a:endParaRPr/>
          </a:p>
          <a:p>
            <a:pPr marL="152400" marR="0" lvl="0" indent="-152400" algn="l" rtl="0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153047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Especialista Data / ML: modelo predictivo, datos, integración con Shopify, panel y alertas.</a:t>
            </a:r>
            <a:endParaRPr/>
          </a:p>
        </p:txBody>
      </p:sp>
      <p:sp>
        <p:nvSpPr>
          <p:cNvPr id="563" name="Google Shape;563;p23"/>
          <p:cNvSpPr/>
          <p:nvPr/>
        </p:nvSpPr>
        <p:spPr>
          <a:xfrm>
            <a:off x="3538728" y="2194560"/>
            <a:ext cx="2834641" cy="2606040"/>
          </a:xfrm>
          <a:prstGeom prst="roundRect">
            <a:avLst>
              <a:gd name="adj" fmla="val 2807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3"/>
          <p:cNvSpPr/>
          <p:nvPr/>
        </p:nvSpPr>
        <p:spPr>
          <a:xfrm>
            <a:off x="3794759" y="2450592"/>
            <a:ext cx="457201" cy="457201"/>
          </a:xfrm>
          <a:prstGeom prst="ellipse">
            <a:avLst/>
          </a:prstGeom>
          <a:solidFill>
            <a:srgbClr val="FBE6D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5" name="Google Shape;565;p23" descr="Image 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13632" y="2569464"/>
            <a:ext cx="219457" cy="219457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23"/>
          <p:cNvSpPr txBox="1"/>
          <p:nvPr/>
        </p:nvSpPr>
        <p:spPr>
          <a:xfrm>
            <a:off x="4361688" y="2583179"/>
            <a:ext cx="1828801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500"/>
              <a:buFont typeface="Overlock"/>
              <a:buNone/>
            </a:pPr>
            <a:r>
              <a:rPr lang="en-US" sz="1500" b="1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Datos y piloto</a:t>
            </a:r>
            <a:endParaRPr/>
          </a:p>
        </p:txBody>
      </p:sp>
      <p:sp>
        <p:nvSpPr>
          <p:cNvPr id="567" name="Google Shape;567;p23"/>
          <p:cNvSpPr txBox="1"/>
          <p:nvPr/>
        </p:nvSpPr>
        <p:spPr>
          <a:xfrm>
            <a:off x="3813047" y="3063239"/>
            <a:ext cx="2331721" cy="793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52400" marR="0" lvl="0" indent="-15240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5–10 tiendas piloto</a:t>
            </a:r>
            <a:endParaRPr/>
          </a:p>
          <a:p>
            <a:pPr marL="152400" marR="0" lvl="0" indent="-152400" algn="l" rtl="0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153047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~12 meses de datos</a:t>
            </a:r>
            <a:endParaRPr/>
          </a:p>
          <a:p>
            <a:pPr marL="152400" marR="0" lvl="0" indent="-152400" algn="l" rtl="0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153047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Pedidos + devoluciones + motivos</a:t>
            </a:r>
            <a:endParaRPr/>
          </a:p>
          <a:p>
            <a:pPr marL="152400" marR="0" lvl="0" indent="-152400" algn="l" rtl="0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153047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Acceso Shopify / CSV</a:t>
            </a:r>
            <a:endParaRPr/>
          </a:p>
        </p:txBody>
      </p:sp>
      <p:sp>
        <p:nvSpPr>
          <p:cNvPr id="568" name="Google Shape;568;p23"/>
          <p:cNvSpPr/>
          <p:nvPr/>
        </p:nvSpPr>
        <p:spPr>
          <a:xfrm>
            <a:off x="6510528" y="2194560"/>
            <a:ext cx="2834641" cy="2606040"/>
          </a:xfrm>
          <a:prstGeom prst="roundRect">
            <a:avLst>
              <a:gd name="adj" fmla="val 2807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3"/>
          <p:cNvSpPr/>
          <p:nvPr/>
        </p:nvSpPr>
        <p:spPr>
          <a:xfrm>
            <a:off x="6766559" y="2450592"/>
            <a:ext cx="457201" cy="457201"/>
          </a:xfrm>
          <a:prstGeom prst="ellipse">
            <a:avLst/>
          </a:prstGeom>
          <a:solidFill>
            <a:srgbClr val="FBE6D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0" name="Google Shape;570;p23" descr="Image 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85431" y="2569464"/>
            <a:ext cx="219457" cy="219457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23"/>
          <p:cNvSpPr txBox="1"/>
          <p:nvPr/>
        </p:nvSpPr>
        <p:spPr>
          <a:xfrm>
            <a:off x="7333488" y="2583179"/>
            <a:ext cx="1828801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500"/>
              <a:buFont typeface="Overlock"/>
              <a:buNone/>
            </a:pPr>
            <a:r>
              <a:rPr lang="en-US" sz="1500" b="1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Tecnología</a:t>
            </a:r>
            <a:endParaRPr/>
          </a:p>
        </p:txBody>
      </p:sp>
      <p:sp>
        <p:nvSpPr>
          <p:cNvPr id="572" name="Google Shape;572;p23"/>
          <p:cNvSpPr txBox="1"/>
          <p:nvPr/>
        </p:nvSpPr>
        <p:spPr>
          <a:xfrm>
            <a:off x="6784847" y="3063239"/>
            <a:ext cx="2331721" cy="793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52400" marR="0" lvl="0" indent="-15240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Entorno seguro de datos</a:t>
            </a:r>
            <a:endParaRPr/>
          </a:p>
          <a:p>
            <a:pPr marL="152400" marR="0" lvl="0" indent="-152400" algn="l" rtl="0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153047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Modelo predictivo</a:t>
            </a:r>
            <a:endParaRPr/>
          </a:p>
          <a:p>
            <a:pPr marL="152400" marR="0" lvl="0" indent="-152400" algn="l" rtl="0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153047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Panel no-code</a:t>
            </a:r>
            <a:endParaRPr/>
          </a:p>
          <a:p>
            <a:pPr marL="152400" marR="0" lvl="0" indent="-152400" algn="l" rtl="0">
              <a:lnSpc>
                <a:spcPct val="133333"/>
              </a:lnSpc>
              <a:spcBef>
                <a:spcPts val="500"/>
              </a:spcBef>
              <a:spcAft>
                <a:spcPts val="0"/>
              </a:spcAft>
              <a:buClr>
                <a:srgbClr val="153047"/>
              </a:buClr>
              <a:buSzPts val="900"/>
              <a:buFont typeface="Arial"/>
              <a:buChar char="•"/>
            </a:pPr>
            <a:r>
              <a:rPr lang="en-US" sz="9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Alertas por email o Slack</a:t>
            </a:r>
            <a:endParaRPr/>
          </a:p>
        </p:txBody>
      </p:sp>
      <p:sp>
        <p:nvSpPr>
          <p:cNvPr id="573" name="Google Shape;573;p23"/>
          <p:cNvSpPr/>
          <p:nvPr/>
        </p:nvSpPr>
        <p:spPr>
          <a:xfrm>
            <a:off x="9555480" y="2194560"/>
            <a:ext cx="2057401" cy="2606040"/>
          </a:xfrm>
          <a:prstGeom prst="roundRect">
            <a:avLst>
              <a:gd name="adj" fmla="val 3556"/>
            </a:avLst>
          </a:prstGeom>
          <a:solidFill>
            <a:srgbClr val="00114B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3"/>
          <p:cNvSpPr txBox="1"/>
          <p:nvPr/>
        </p:nvSpPr>
        <p:spPr>
          <a:xfrm>
            <a:off x="9738359" y="2451099"/>
            <a:ext cx="173736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C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9FB0CC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/>
          </a:p>
        </p:txBody>
      </p:sp>
      <p:sp>
        <p:nvSpPr>
          <p:cNvPr id="575" name="Google Shape;575;p23"/>
          <p:cNvSpPr txBox="1"/>
          <p:nvPr/>
        </p:nvSpPr>
        <p:spPr>
          <a:xfrm>
            <a:off x="9738359" y="2843913"/>
            <a:ext cx="1737361" cy="255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Overlock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rPr>
              <a:t>MVP no-code</a:t>
            </a:r>
            <a:endParaRPr/>
          </a:p>
        </p:txBody>
      </p:sp>
      <p:sp>
        <p:nvSpPr>
          <p:cNvPr id="576" name="Google Shape;576;p23"/>
          <p:cNvSpPr txBox="1"/>
          <p:nvPr/>
        </p:nvSpPr>
        <p:spPr>
          <a:xfrm>
            <a:off x="9738359" y="3383279"/>
            <a:ext cx="1737361" cy="372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C9D3E6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C9D3E6"/>
                </a:solidFill>
                <a:latin typeface="Arial"/>
                <a:ea typeface="Arial"/>
                <a:cs typeface="Arial"/>
                <a:sym typeface="Arial"/>
              </a:rPr>
              <a:t>Alertas con riesgo, motivo y acción preventiva.</a:t>
            </a:r>
            <a:endParaRPr/>
          </a:p>
        </p:txBody>
      </p:sp>
      <p:sp>
        <p:nvSpPr>
          <p:cNvPr id="577" name="Google Shape;577;p23"/>
          <p:cNvSpPr txBox="1"/>
          <p:nvPr/>
        </p:nvSpPr>
        <p:spPr>
          <a:xfrm>
            <a:off x="566927" y="5057139"/>
            <a:ext cx="4572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PLAN DE EJECUCIÓN</a:t>
            </a: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566927" y="5303520"/>
            <a:ext cx="2670050" cy="777241"/>
          </a:xfrm>
          <a:prstGeom prst="roundRect">
            <a:avLst>
              <a:gd name="adj" fmla="val 9412"/>
            </a:avLst>
          </a:prstGeom>
          <a:solidFill>
            <a:srgbClr val="FBE6D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3"/>
          <p:cNvSpPr txBox="1"/>
          <p:nvPr/>
        </p:nvSpPr>
        <p:spPr>
          <a:xfrm>
            <a:off x="749807" y="5477763"/>
            <a:ext cx="230429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64A3B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B64A3B"/>
                </a:solidFill>
                <a:latin typeface="Arial"/>
                <a:ea typeface="Arial"/>
                <a:cs typeface="Arial"/>
                <a:sym typeface="Arial"/>
              </a:rPr>
              <a:t>SEMANAS 1–2</a:t>
            </a:r>
            <a:endParaRPr/>
          </a:p>
        </p:txBody>
      </p:sp>
      <p:sp>
        <p:nvSpPr>
          <p:cNvPr id="580" name="Google Shape;580;p23"/>
          <p:cNvSpPr txBox="1"/>
          <p:nvPr/>
        </p:nvSpPr>
        <p:spPr>
          <a:xfrm>
            <a:off x="749807" y="5650991"/>
            <a:ext cx="2304290" cy="190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B64A3B"/>
              </a:buClr>
              <a:buSzPts val="1300"/>
              <a:buFont typeface="Overlock"/>
              <a:buNone/>
            </a:pPr>
            <a:r>
              <a:rPr lang="en-US" sz="1300" b="1" i="0" u="none" strike="noStrike" cap="none">
                <a:solidFill>
                  <a:srgbClr val="B64A3B"/>
                </a:solidFill>
                <a:latin typeface="Overlock"/>
                <a:ea typeface="Overlock"/>
                <a:cs typeface="Overlock"/>
                <a:sym typeface="Overlock"/>
              </a:rPr>
              <a:t>Preparar datos</a:t>
            </a:r>
            <a:endParaRPr/>
          </a:p>
        </p:txBody>
      </p:sp>
      <p:sp>
        <p:nvSpPr>
          <p:cNvPr id="581" name="Google Shape;581;p23"/>
          <p:cNvSpPr/>
          <p:nvPr/>
        </p:nvSpPr>
        <p:spPr>
          <a:xfrm>
            <a:off x="3355847" y="5303520"/>
            <a:ext cx="2670049" cy="777241"/>
          </a:xfrm>
          <a:prstGeom prst="roundRect">
            <a:avLst>
              <a:gd name="adj" fmla="val 9412"/>
            </a:avLst>
          </a:prstGeom>
          <a:solidFill>
            <a:srgbClr val="EFE7D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3"/>
          <p:cNvSpPr txBox="1"/>
          <p:nvPr/>
        </p:nvSpPr>
        <p:spPr>
          <a:xfrm>
            <a:off x="3538728" y="5477763"/>
            <a:ext cx="2304289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SEMANAS 3–5</a:t>
            </a:r>
            <a:endParaRPr/>
          </a:p>
        </p:txBody>
      </p:sp>
      <p:sp>
        <p:nvSpPr>
          <p:cNvPr id="583" name="Google Shape;583;p23"/>
          <p:cNvSpPr txBox="1"/>
          <p:nvPr/>
        </p:nvSpPr>
        <p:spPr>
          <a:xfrm>
            <a:off x="3538728" y="5650991"/>
            <a:ext cx="2304289" cy="190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300"/>
              <a:buFont typeface="Overlock"/>
              <a:buNone/>
            </a:pPr>
            <a:r>
              <a:rPr lang="en-US" sz="1300" b="1" i="0" u="none" strike="noStrike" cap="none">
                <a:solidFill>
                  <a:srgbClr val="153047"/>
                </a:solidFill>
                <a:latin typeface="Overlock"/>
                <a:ea typeface="Overlock"/>
                <a:cs typeface="Overlock"/>
                <a:sym typeface="Overlock"/>
              </a:rPr>
              <a:t>Crear modelo</a:t>
            </a:r>
            <a:endParaRPr/>
          </a:p>
        </p:txBody>
      </p:sp>
      <p:sp>
        <p:nvSpPr>
          <p:cNvPr id="584" name="Google Shape;584;p23"/>
          <p:cNvSpPr/>
          <p:nvPr/>
        </p:nvSpPr>
        <p:spPr>
          <a:xfrm>
            <a:off x="6144767" y="5303520"/>
            <a:ext cx="2670050" cy="777241"/>
          </a:xfrm>
          <a:prstGeom prst="roundRect">
            <a:avLst>
              <a:gd name="adj" fmla="val 9412"/>
            </a:avLst>
          </a:prstGeom>
          <a:solidFill>
            <a:srgbClr val="DFF0E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3"/>
          <p:cNvSpPr txBox="1"/>
          <p:nvPr/>
        </p:nvSpPr>
        <p:spPr>
          <a:xfrm>
            <a:off x="6327647" y="5477763"/>
            <a:ext cx="2304289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7A5A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F7A5A"/>
                </a:solidFill>
                <a:latin typeface="Arial"/>
                <a:ea typeface="Arial"/>
                <a:cs typeface="Arial"/>
                <a:sym typeface="Arial"/>
              </a:rPr>
              <a:t>SEMANAS 6–8</a:t>
            </a:r>
            <a:endParaRPr/>
          </a:p>
        </p:txBody>
      </p:sp>
      <p:sp>
        <p:nvSpPr>
          <p:cNvPr id="586" name="Google Shape;586;p23"/>
          <p:cNvSpPr txBox="1"/>
          <p:nvPr/>
        </p:nvSpPr>
        <p:spPr>
          <a:xfrm>
            <a:off x="6327647" y="5650991"/>
            <a:ext cx="2304289" cy="190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1F7A5A"/>
              </a:buClr>
              <a:buSzPts val="1300"/>
              <a:buFont typeface="Overlock"/>
              <a:buNone/>
            </a:pPr>
            <a:r>
              <a:rPr lang="en-US" sz="1300" b="1" i="0" u="none" strike="noStrike" cap="none">
                <a:solidFill>
                  <a:srgbClr val="1F7A5A"/>
                </a:solidFill>
                <a:latin typeface="Overlock"/>
                <a:ea typeface="Overlock"/>
                <a:cs typeface="Overlock"/>
                <a:sym typeface="Overlock"/>
              </a:rPr>
              <a:t>Panel + alertas</a:t>
            </a:r>
            <a:endParaRPr/>
          </a:p>
        </p:txBody>
      </p:sp>
      <p:sp>
        <p:nvSpPr>
          <p:cNvPr id="587" name="Google Shape;587;p23"/>
          <p:cNvSpPr/>
          <p:nvPr/>
        </p:nvSpPr>
        <p:spPr>
          <a:xfrm>
            <a:off x="8933688" y="5303520"/>
            <a:ext cx="2670049" cy="777241"/>
          </a:xfrm>
          <a:prstGeom prst="roundRect">
            <a:avLst>
              <a:gd name="adj" fmla="val 9412"/>
            </a:avLst>
          </a:prstGeom>
          <a:solidFill>
            <a:srgbClr val="00114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3"/>
          <p:cNvSpPr txBox="1"/>
          <p:nvPr/>
        </p:nvSpPr>
        <p:spPr>
          <a:xfrm>
            <a:off x="9116568" y="5477763"/>
            <a:ext cx="2304289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SEMANAS 9–12</a:t>
            </a:r>
            <a:endParaRPr/>
          </a:p>
        </p:txBody>
      </p:sp>
      <p:sp>
        <p:nvSpPr>
          <p:cNvPr id="589" name="Google Shape;589;p23"/>
          <p:cNvSpPr txBox="1"/>
          <p:nvPr/>
        </p:nvSpPr>
        <p:spPr>
          <a:xfrm>
            <a:off x="9116568" y="5650991"/>
            <a:ext cx="2304289" cy="190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Overlock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Overlock"/>
                <a:ea typeface="Overlock"/>
                <a:cs typeface="Overlock"/>
                <a:sym typeface="Overlock"/>
              </a:rPr>
              <a:t>Piloto con pedidos reales</a:t>
            </a:r>
            <a:endParaRPr/>
          </a:p>
        </p:txBody>
      </p:sp>
      <p:sp>
        <p:nvSpPr>
          <p:cNvPr id="590" name="Google Shape;590;p23"/>
          <p:cNvSpPr txBox="1"/>
          <p:nvPr/>
        </p:nvSpPr>
        <p:spPr>
          <a:xfrm>
            <a:off x="566927" y="6353754"/>
            <a:ext cx="11064242" cy="1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VALIDAMOS SI:  </a:t>
            </a:r>
            <a:r>
              <a:rPr lang="en-US" sz="9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✓ las alertas son útiles   ✓ el equipo actúa   ✓ bajan las devoluciones prevenibles   ✓ no perjudicamos la conversión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5" name="Google Shape;595;g3f1a5f43252_3_0"/>
          <p:cNvCxnSpPr/>
          <p:nvPr/>
        </p:nvCxnSpPr>
        <p:spPr>
          <a:xfrm>
            <a:off x="8778240" y="0"/>
            <a:ext cx="3383400" cy="2011800"/>
          </a:xfrm>
          <a:prstGeom prst="straightConnector1">
            <a:avLst/>
          </a:prstGeom>
          <a:noFill/>
          <a:ln w="13950" cap="flat" cmpd="sng">
            <a:solidFill>
              <a:srgbClr val="B4861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6" name="Google Shape;596;g3f1a5f43252_3_0"/>
          <p:cNvCxnSpPr/>
          <p:nvPr/>
        </p:nvCxnSpPr>
        <p:spPr>
          <a:xfrm>
            <a:off x="9052559" y="-1"/>
            <a:ext cx="3108900" cy="1874400"/>
          </a:xfrm>
          <a:prstGeom prst="straightConnector1">
            <a:avLst/>
          </a:prstGeom>
          <a:noFill/>
          <a:ln w="13950" cap="flat" cmpd="sng">
            <a:solidFill>
              <a:srgbClr val="E7D8A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7" name="Google Shape;597;g3f1a5f43252_3_0"/>
          <p:cNvCxnSpPr/>
          <p:nvPr/>
        </p:nvCxnSpPr>
        <p:spPr>
          <a:xfrm>
            <a:off x="-1" y="5120640"/>
            <a:ext cx="2926200" cy="1737300"/>
          </a:xfrm>
          <a:prstGeom prst="straightConnector1">
            <a:avLst/>
          </a:prstGeom>
          <a:noFill/>
          <a:ln w="13950" cap="flat" cmpd="sng">
            <a:solidFill>
              <a:srgbClr val="E7D8A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8" name="Google Shape;598;g3f1a5f43252_3_0"/>
          <p:cNvCxnSpPr/>
          <p:nvPr/>
        </p:nvCxnSpPr>
        <p:spPr>
          <a:xfrm>
            <a:off x="-1" y="5440679"/>
            <a:ext cx="2651700" cy="1417200"/>
          </a:xfrm>
          <a:prstGeom prst="straightConnector1">
            <a:avLst/>
          </a:prstGeom>
          <a:noFill/>
          <a:ln w="13950" cap="flat" cmpd="sng">
            <a:solidFill>
              <a:srgbClr val="B4861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9" name="Google Shape;599;g3f1a5f43252_3_0"/>
          <p:cNvSpPr txBox="1"/>
          <p:nvPr/>
        </p:nvSpPr>
        <p:spPr>
          <a:xfrm>
            <a:off x="713160" y="2484415"/>
            <a:ext cx="4800300" cy="6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5E3B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45E3B"/>
                </a:solidFill>
                <a:latin typeface="Arial"/>
                <a:ea typeface="Arial"/>
                <a:cs typeface="Arial"/>
                <a:sym typeface="Arial"/>
              </a:rPr>
              <a:t>Protege el margen mientras el e-commerce crece.</a:t>
            </a:r>
            <a:endParaRPr/>
          </a:p>
        </p:txBody>
      </p:sp>
      <p:sp>
        <p:nvSpPr>
          <p:cNvPr id="600" name="Google Shape;600;g3f1a5f43252_3_0"/>
          <p:cNvSpPr txBox="1"/>
          <p:nvPr/>
        </p:nvSpPr>
        <p:spPr>
          <a:xfrm>
            <a:off x="7726680" y="6546960"/>
            <a:ext cx="3428700" cy="1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INCEPTION DECK · PRODUCT VISION</a:t>
            </a:r>
            <a:endParaRPr/>
          </a:p>
        </p:txBody>
      </p:sp>
      <p:sp>
        <p:nvSpPr>
          <p:cNvPr id="601" name="Google Shape;601;g3f1a5f43252_3_0"/>
          <p:cNvSpPr txBox="1">
            <a:spLocks noGrp="1"/>
          </p:cNvSpPr>
          <p:nvPr>
            <p:ph type="sldNum" idx="4294967295"/>
          </p:nvPr>
        </p:nvSpPr>
        <p:spPr>
          <a:xfrm>
            <a:off x="11499035" y="6565320"/>
            <a:ext cx="1593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75" tIns="44975" rIns="44975" bIns="449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7B6D"/>
              </a:buClr>
              <a:buSzPts val="8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897B6D"/>
                </a:solidFill>
              </a:rPr>
              <a:t>22</a:t>
            </a:fld>
            <a:endParaRPr/>
          </a:p>
        </p:txBody>
      </p:sp>
      <p:sp>
        <p:nvSpPr>
          <p:cNvPr id="602" name="Google Shape;602;g3f1a5f43252_3_0"/>
          <p:cNvSpPr txBox="1"/>
          <p:nvPr/>
        </p:nvSpPr>
        <p:spPr>
          <a:xfrm>
            <a:off x="2477770" y="5339215"/>
            <a:ext cx="4572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AUTORES</a:t>
            </a:r>
            <a:endParaRPr/>
          </a:p>
        </p:txBody>
      </p:sp>
      <p:sp>
        <p:nvSpPr>
          <p:cNvPr id="603" name="Google Shape;603;g3f1a5f43252_3_0"/>
          <p:cNvSpPr txBox="1"/>
          <p:nvPr/>
        </p:nvSpPr>
        <p:spPr>
          <a:xfrm>
            <a:off x="2477770" y="5579472"/>
            <a:ext cx="4572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Iván González DoCampo</a:t>
            </a:r>
            <a:endParaRPr/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Ignacio Bameule</a:t>
            </a:r>
            <a:endParaRPr/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Paola Espejo</a:t>
            </a:r>
            <a:endParaRPr/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Daniel Merino</a:t>
            </a:r>
            <a:endParaRPr/>
          </a:p>
        </p:txBody>
      </p:sp>
      <p:sp>
        <p:nvSpPr>
          <p:cNvPr id="604" name="Google Shape;604;g3f1a5f43252_3_0"/>
          <p:cNvSpPr txBox="1"/>
          <p:nvPr/>
        </p:nvSpPr>
        <p:spPr>
          <a:xfrm>
            <a:off x="713150" y="1993322"/>
            <a:ext cx="51204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3100"/>
              <a:buFont typeface="Play"/>
              <a:buNone/>
            </a:pPr>
            <a:r>
              <a:rPr lang="en-US" sz="3100" b="1">
                <a:solidFill>
                  <a:srgbClr val="153047"/>
                </a:solidFill>
                <a:latin typeface="Play"/>
                <a:ea typeface="Play"/>
                <a:cs typeface="Play"/>
                <a:sym typeface="Play"/>
              </a:rPr>
              <a:t>PredictiFlow</a:t>
            </a:r>
            <a:endParaRPr/>
          </a:p>
        </p:txBody>
      </p:sp>
      <p:pic>
        <p:nvPicPr>
          <p:cNvPr id="605" name="Google Shape;605;g3f1a5f43252_3_0" descr="PRODUCT_BOX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6152" y="1357074"/>
            <a:ext cx="6546825" cy="368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25" descr="Google Shape;3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25"/>
          <p:cNvSpPr txBox="1">
            <a:spLocks noGrp="1"/>
          </p:cNvSpPr>
          <p:nvPr>
            <p:ph type="sldNum" idx="4294967295"/>
          </p:nvPr>
        </p:nvSpPr>
        <p:spPr>
          <a:xfrm>
            <a:off x="11442530" y="6565320"/>
            <a:ext cx="215711" cy="20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75" tIns="44975" rIns="44975" bIns="449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7B6D"/>
              </a:buClr>
              <a:buSzPts val="8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897B6D"/>
                </a:solidFill>
              </a:rPr>
              <a:t>23</a:t>
            </a:fld>
            <a:endParaRPr/>
          </a:p>
        </p:txBody>
      </p:sp>
      <p:sp>
        <p:nvSpPr>
          <p:cNvPr id="617" name="Google Shape;617;p25"/>
          <p:cNvSpPr/>
          <p:nvPr/>
        </p:nvSpPr>
        <p:spPr>
          <a:xfrm>
            <a:off x="366943" y="6196614"/>
            <a:ext cx="11458114" cy="532867"/>
          </a:xfrm>
          <a:prstGeom prst="rect">
            <a:avLst/>
          </a:prstGeom>
          <a:solidFill>
            <a:srgbClr val="F7F1E8"/>
          </a:solidFill>
          <a:ln w="12700" cap="flat" cmpd="sng">
            <a:solidFill>
              <a:srgbClr val="F7F1E8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5"/>
          <p:cNvSpPr txBox="1"/>
          <p:nvPr/>
        </p:nvSpPr>
        <p:spPr>
          <a:xfrm>
            <a:off x="1035939" y="523110"/>
            <a:ext cx="4548116" cy="639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2500"/>
              <a:buFont typeface="Overlock"/>
              <a:buNone/>
            </a:pPr>
            <a:r>
              <a:rPr lang="en-US" sz="2500" b="0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La paradoja del crecimiento</a:t>
            </a:r>
            <a:endParaRPr/>
          </a:p>
        </p:txBody>
      </p:sp>
      <p:pic>
        <p:nvPicPr>
          <p:cNvPr id="619" name="Google Shape;619;p25" descr="Google Shape;4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2262" y="2052099"/>
            <a:ext cx="8007475" cy="3953331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25"/>
          <p:cNvSpPr txBox="1"/>
          <p:nvPr/>
        </p:nvSpPr>
        <p:spPr>
          <a:xfrm>
            <a:off x="1035938" y="1199912"/>
            <a:ext cx="5648947" cy="792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Mas ventas online pueden significar </a:t>
            </a:r>
            <a:r>
              <a:rPr lang="en-US" sz="18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más devoluciones, más costo operativo y menos margen real</a:t>
            </a:r>
            <a:endParaRPr/>
          </a:p>
        </p:txBody>
      </p:sp>
      <p:sp>
        <p:nvSpPr>
          <p:cNvPr id="621" name="Google Shape;621;p25"/>
          <p:cNvSpPr txBox="1"/>
          <p:nvPr/>
        </p:nvSpPr>
        <p:spPr>
          <a:xfrm>
            <a:off x="2786320" y="6090349"/>
            <a:ext cx="7059015" cy="525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El problema no es crecer. Es crecer </a:t>
            </a:r>
            <a:r>
              <a:rPr lang="en-US" sz="18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sin saber cuánto margen se pierde </a:t>
            </a:r>
            <a:r>
              <a:rPr lang="en-US" sz="18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en cada devolución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6"/>
          <p:cNvSpPr txBox="1">
            <a:spLocks noGrp="1"/>
          </p:cNvSpPr>
          <p:nvPr>
            <p:ph type="sldNum" idx="4294967295"/>
          </p:nvPr>
        </p:nvSpPr>
        <p:spPr>
          <a:xfrm>
            <a:off x="11442530" y="6565320"/>
            <a:ext cx="215711" cy="20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75" tIns="44975" rIns="44975" bIns="449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7B6D"/>
              </a:buClr>
              <a:buSzPts val="8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897B6D"/>
                </a:solidFill>
              </a:rPr>
              <a:t>24</a:t>
            </a:fld>
            <a:endParaRPr/>
          </a:p>
        </p:txBody>
      </p:sp>
      <p:sp>
        <p:nvSpPr>
          <p:cNvPr id="627" name="Google Shape;627;p26"/>
          <p:cNvSpPr/>
          <p:nvPr/>
        </p:nvSpPr>
        <p:spPr>
          <a:xfrm>
            <a:off x="366943" y="6196614"/>
            <a:ext cx="11458114" cy="532867"/>
          </a:xfrm>
          <a:prstGeom prst="rect">
            <a:avLst/>
          </a:prstGeom>
          <a:solidFill>
            <a:srgbClr val="F7F1E8"/>
          </a:solidFill>
          <a:ln w="12700" cap="flat" cmpd="sng">
            <a:solidFill>
              <a:srgbClr val="F7F1E8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8" name="Google Shape;628;p26" descr="Google Shape;5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25639" y="414786"/>
            <a:ext cx="7458641" cy="1650645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26"/>
          <p:cNvSpPr txBox="1"/>
          <p:nvPr/>
        </p:nvSpPr>
        <p:spPr>
          <a:xfrm>
            <a:off x="574299" y="241464"/>
            <a:ext cx="3225345" cy="5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800" b="1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costo oculto </a:t>
            </a:r>
            <a:r>
              <a:rPr lang="en-US" sz="18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detrás de cada venta online</a:t>
            </a:r>
            <a:endParaRPr/>
          </a:p>
        </p:txBody>
      </p:sp>
      <p:sp>
        <p:nvSpPr>
          <p:cNvPr id="630" name="Google Shape;630;p26"/>
          <p:cNvSpPr/>
          <p:nvPr/>
        </p:nvSpPr>
        <p:spPr>
          <a:xfrm>
            <a:off x="4187361" y="6195531"/>
            <a:ext cx="7335855" cy="393501"/>
          </a:xfrm>
          <a:prstGeom prst="rect">
            <a:avLst/>
          </a:prstGeom>
          <a:solidFill>
            <a:srgbClr val="F7F1E8"/>
          </a:solidFill>
          <a:ln w="12700" cap="flat" cmpd="sng">
            <a:solidFill>
              <a:srgbClr val="F7F1E8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1" name="Google Shape;631;p26" descr="Google Shape;5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7719" y="1240106"/>
            <a:ext cx="2556788" cy="495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26" descr="Google Shape;57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14509" y="2158236"/>
            <a:ext cx="7369772" cy="3943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27" descr="Google Shape;6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7"/>
          <p:cNvSpPr txBox="1">
            <a:spLocks noGrp="1"/>
          </p:cNvSpPr>
          <p:nvPr>
            <p:ph type="sldNum" idx="4294967295"/>
          </p:nvPr>
        </p:nvSpPr>
        <p:spPr>
          <a:xfrm>
            <a:off x="11442530" y="6565320"/>
            <a:ext cx="215711" cy="20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75" tIns="44975" rIns="44975" bIns="449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7B6D"/>
              </a:buClr>
              <a:buSzPts val="800"/>
              <a:buFont typeface="Arial"/>
              <a:buNone/>
            </a:pPr>
            <a:fld id="{00000000-1234-1234-1234-123412341234}" type="slidenum">
              <a:rPr lang="en-US" sz="800">
                <a:solidFill>
                  <a:srgbClr val="897B6D"/>
                </a:solidFill>
              </a:rPr>
              <a:t>25</a:t>
            </a:fld>
            <a:endParaRPr/>
          </a:p>
        </p:txBody>
      </p:sp>
      <p:sp>
        <p:nvSpPr>
          <p:cNvPr id="639" name="Google Shape;639;p27"/>
          <p:cNvSpPr/>
          <p:nvPr/>
        </p:nvSpPr>
        <p:spPr>
          <a:xfrm>
            <a:off x="366943" y="6196614"/>
            <a:ext cx="11458114" cy="532867"/>
          </a:xfrm>
          <a:prstGeom prst="rect">
            <a:avLst/>
          </a:prstGeom>
          <a:solidFill>
            <a:srgbClr val="F7F1E8"/>
          </a:solidFill>
          <a:ln w="12700" cap="flat" cmpd="sng">
            <a:solidFill>
              <a:srgbClr val="F7F1E8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7"/>
          <p:cNvSpPr txBox="1"/>
          <p:nvPr/>
        </p:nvSpPr>
        <p:spPr>
          <a:xfrm>
            <a:off x="1035939" y="523110"/>
            <a:ext cx="4548116" cy="639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2500"/>
              <a:buFont typeface="Overlock"/>
              <a:buNone/>
            </a:pPr>
            <a:r>
              <a:rPr lang="en-US" sz="2500" b="0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La paradoja del crecimiento</a:t>
            </a:r>
            <a:endParaRPr/>
          </a:p>
        </p:txBody>
      </p:sp>
      <p:pic>
        <p:nvPicPr>
          <p:cNvPr id="641" name="Google Shape;641;p27" descr="Google Shape;6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5939" y="1181989"/>
            <a:ext cx="9896510" cy="2317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27" descr="Google Shape;68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96700" y="3690334"/>
            <a:ext cx="9398598" cy="2772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8"/>
          <p:cNvSpPr txBox="1"/>
          <p:nvPr/>
        </p:nvSpPr>
        <p:spPr>
          <a:xfrm>
            <a:off x="566927" y="457707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PROPUESTA / 02 · PRODUCT BOX</a:t>
            </a:r>
            <a:endParaRPr/>
          </a:p>
        </p:txBody>
      </p:sp>
      <p:sp>
        <p:nvSpPr>
          <p:cNvPr id="648" name="Google Shape;648;p28"/>
          <p:cNvSpPr txBox="1"/>
          <p:nvPr/>
        </p:nvSpPr>
        <p:spPr>
          <a:xfrm>
            <a:off x="6400800" y="6511036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POR QUÉ COMPRAR PREDICTIFLOW</a:t>
            </a:r>
            <a:endParaRPr/>
          </a:p>
        </p:txBody>
      </p:sp>
      <p:sp>
        <p:nvSpPr>
          <p:cNvPr id="649" name="Google Shape;649;p28"/>
          <p:cNvSpPr txBox="1"/>
          <p:nvPr/>
        </p:nvSpPr>
        <p:spPr>
          <a:xfrm>
            <a:off x="566927" y="749808"/>
            <a:ext cx="10607042" cy="351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2300"/>
              <a:buFont typeface="Overlock"/>
              <a:buNone/>
            </a:pPr>
            <a:r>
              <a:rPr lang="en-US" sz="2300" b="1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¿Cuáles son las tres razones principales para comprar este producto?</a:t>
            </a:r>
            <a:endParaRPr/>
          </a:p>
        </p:txBody>
      </p:sp>
      <p:sp>
        <p:nvSpPr>
          <p:cNvPr id="650" name="Google Shape;650;p28"/>
          <p:cNvSpPr/>
          <p:nvPr/>
        </p:nvSpPr>
        <p:spPr>
          <a:xfrm>
            <a:off x="566927" y="2148839"/>
            <a:ext cx="3520442" cy="3749042"/>
          </a:xfrm>
          <a:prstGeom prst="roundRect">
            <a:avLst>
              <a:gd name="adj" fmla="val 2078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8"/>
          <p:cNvSpPr/>
          <p:nvPr/>
        </p:nvSpPr>
        <p:spPr>
          <a:xfrm>
            <a:off x="841247" y="2423160"/>
            <a:ext cx="2971801" cy="502921"/>
          </a:xfrm>
          <a:prstGeom prst="roundRect">
            <a:avLst>
              <a:gd name="adj" fmla="val 14545"/>
            </a:avLst>
          </a:prstGeom>
          <a:solidFill>
            <a:srgbClr val="F2630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2" name="Google Shape;652;p28" descr="Image 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4127" y="2532888"/>
            <a:ext cx="292610" cy="292609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28"/>
          <p:cNvSpPr txBox="1"/>
          <p:nvPr/>
        </p:nvSpPr>
        <p:spPr>
          <a:xfrm>
            <a:off x="1435607" y="2588212"/>
            <a:ext cx="2423162" cy="172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RENTABILIDAD</a:t>
            </a:r>
            <a:endParaRPr/>
          </a:p>
        </p:txBody>
      </p:sp>
      <p:sp>
        <p:nvSpPr>
          <p:cNvPr id="654" name="Google Shape;654;p28"/>
          <p:cNvSpPr txBox="1"/>
          <p:nvPr/>
        </p:nvSpPr>
        <p:spPr>
          <a:xfrm>
            <a:off x="886967" y="3108959"/>
            <a:ext cx="2926082" cy="804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0" indent="-17780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Disminuye las devoluciones</a:t>
            </a:r>
            <a:endParaRPr/>
          </a:p>
          <a:p>
            <a:pPr marL="177800" marR="0" lvl="0" indent="-177800" algn="l" rtl="0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153047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Reduce costos operativos logísticos</a:t>
            </a:r>
            <a:endParaRPr/>
          </a:p>
          <a:p>
            <a:pPr marL="177800" marR="0" lvl="0" indent="-177800" algn="l" rtl="0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153047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Aumenta el margen de cada producto</a:t>
            </a:r>
            <a:endParaRPr/>
          </a:p>
        </p:txBody>
      </p:sp>
      <p:sp>
        <p:nvSpPr>
          <p:cNvPr id="655" name="Google Shape;655;p28"/>
          <p:cNvSpPr/>
          <p:nvPr/>
        </p:nvSpPr>
        <p:spPr>
          <a:xfrm>
            <a:off x="4224528" y="2148839"/>
            <a:ext cx="3520441" cy="3749042"/>
          </a:xfrm>
          <a:prstGeom prst="roundRect">
            <a:avLst>
              <a:gd name="adj" fmla="val 2078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8"/>
          <p:cNvSpPr/>
          <p:nvPr/>
        </p:nvSpPr>
        <p:spPr>
          <a:xfrm>
            <a:off x="4498847" y="2423160"/>
            <a:ext cx="2971801" cy="502921"/>
          </a:xfrm>
          <a:prstGeom prst="roundRect">
            <a:avLst>
              <a:gd name="adj" fmla="val 14545"/>
            </a:avLst>
          </a:prstGeom>
          <a:solidFill>
            <a:srgbClr val="15304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7" name="Google Shape;657;p28" descr="Image 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81728" y="2532888"/>
            <a:ext cx="292609" cy="2926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28"/>
          <p:cNvSpPr txBox="1"/>
          <p:nvPr/>
        </p:nvSpPr>
        <p:spPr>
          <a:xfrm>
            <a:off x="5093208" y="2588212"/>
            <a:ext cx="2423161" cy="172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OPERATIVIDAD</a:t>
            </a:r>
            <a:endParaRPr/>
          </a:p>
        </p:txBody>
      </p:sp>
      <p:sp>
        <p:nvSpPr>
          <p:cNvPr id="659" name="Google Shape;659;p28"/>
          <p:cNvSpPr txBox="1"/>
          <p:nvPr/>
        </p:nvSpPr>
        <p:spPr>
          <a:xfrm>
            <a:off x="4544567" y="3108959"/>
            <a:ext cx="2926082" cy="1414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0" indent="-17780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Más tiempo libre del equipo para otras tareas</a:t>
            </a:r>
            <a:endParaRPr/>
          </a:p>
          <a:p>
            <a:pPr marL="177800" marR="0" lvl="0" indent="-177800" algn="l" rtl="0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153047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Anticipa la carga de trabajo en gestión de reclamos y devoluciones</a:t>
            </a:r>
            <a:endParaRPr/>
          </a:p>
          <a:p>
            <a:pPr marL="177800" marR="0" lvl="0" indent="-177800" algn="l" rtl="0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153047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Acciones proactivas frente a potenciales devoluciones</a:t>
            </a:r>
            <a:endParaRPr/>
          </a:p>
        </p:txBody>
      </p:sp>
      <p:sp>
        <p:nvSpPr>
          <p:cNvPr id="660" name="Google Shape;660;p28"/>
          <p:cNvSpPr/>
          <p:nvPr/>
        </p:nvSpPr>
        <p:spPr>
          <a:xfrm>
            <a:off x="7882128" y="2148839"/>
            <a:ext cx="3520441" cy="3749042"/>
          </a:xfrm>
          <a:prstGeom prst="roundRect">
            <a:avLst>
              <a:gd name="adj" fmla="val 2078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8"/>
          <p:cNvSpPr/>
          <p:nvPr/>
        </p:nvSpPr>
        <p:spPr>
          <a:xfrm>
            <a:off x="8156447" y="2423160"/>
            <a:ext cx="2971801" cy="502921"/>
          </a:xfrm>
          <a:prstGeom prst="roundRect">
            <a:avLst>
              <a:gd name="adj" fmla="val 14545"/>
            </a:avLst>
          </a:prstGeom>
          <a:solidFill>
            <a:srgbClr val="1F7A5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2" name="Google Shape;662;p28" descr="Image 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39328" y="2532888"/>
            <a:ext cx="292609" cy="292609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28"/>
          <p:cNvSpPr txBox="1"/>
          <p:nvPr/>
        </p:nvSpPr>
        <p:spPr>
          <a:xfrm>
            <a:off x="8750807" y="2588212"/>
            <a:ext cx="2423161" cy="172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MAYORES VENTAS</a:t>
            </a:r>
            <a:endParaRPr/>
          </a:p>
        </p:txBody>
      </p:sp>
      <p:sp>
        <p:nvSpPr>
          <p:cNvPr id="664" name="Google Shape;664;p28"/>
          <p:cNvSpPr txBox="1"/>
          <p:nvPr/>
        </p:nvSpPr>
        <p:spPr>
          <a:xfrm>
            <a:off x="8202168" y="3108959"/>
            <a:ext cx="2926081" cy="10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0" indent="-17780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Menos productos en devolución = más en inventario</a:t>
            </a:r>
            <a:endParaRPr/>
          </a:p>
          <a:p>
            <a:pPr marL="177800" marR="0" lvl="0" indent="-177800" algn="l" rtl="0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153047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Mayor disponibilidad de stock</a:t>
            </a:r>
            <a:endParaRPr/>
          </a:p>
          <a:p>
            <a:pPr marL="177800" marR="0" lvl="0" indent="-177800" algn="l" rtl="0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153047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Aumento potencial de ventas</a:t>
            </a:r>
            <a:endParaRPr/>
          </a:p>
        </p:txBody>
      </p:sp>
      <p:pic>
        <p:nvPicPr>
          <p:cNvPr id="665" name="Google Shape;665;p28" descr="Google Shape;39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p29" descr="Image 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3094" y="256031"/>
            <a:ext cx="662332" cy="502921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29"/>
          <p:cNvSpPr txBox="1"/>
          <p:nvPr/>
        </p:nvSpPr>
        <p:spPr>
          <a:xfrm>
            <a:off x="566927" y="457707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PROPUESTA / 02 · PRODUCT BOX</a:t>
            </a:r>
            <a:endParaRPr/>
          </a:p>
        </p:txBody>
      </p:sp>
      <p:sp>
        <p:nvSpPr>
          <p:cNvPr id="672" name="Google Shape;672;p29"/>
          <p:cNvSpPr txBox="1"/>
          <p:nvPr/>
        </p:nvSpPr>
        <p:spPr>
          <a:xfrm>
            <a:off x="6400800" y="6511036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FUNCIONALIDADES CLAVE</a:t>
            </a:r>
            <a:endParaRPr/>
          </a:p>
        </p:txBody>
      </p:sp>
      <p:sp>
        <p:nvSpPr>
          <p:cNvPr id="673" name="Google Shape;673;p29"/>
          <p:cNvSpPr txBox="1"/>
          <p:nvPr/>
        </p:nvSpPr>
        <p:spPr>
          <a:xfrm>
            <a:off x="566927" y="749807"/>
            <a:ext cx="10058401" cy="3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2500"/>
              <a:buFont typeface="Overlock"/>
              <a:buNone/>
            </a:pPr>
            <a:r>
              <a:rPr lang="en-US" sz="2500" b="1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Qué hace PredictiFlow y qué gana el usuario</a:t>
            </a:r>
            <a:endParaRPr/>
          </a:p>
        </p:txBody>
      </p:sp>
      <p:sp>
        <p:nvSpPr>
          <p:cNvPr id="674" name="Google Shape;674;p29"/>
          <p:cNvSpPr/>
          <p:nvPr/>
        </p:nvSpPr>
        <p:spPr>
          <a:xfrm>
            <a:off x="566927" y="1828800"/>
            <a:ext cx="3108962" cy="502920"/>
          </a:xfrm>
          <a:prstGeom prst="roundRect">
            <a:avLst>
              <a:gd name="adj" fmla="val 10909"/>
            </a:avLst>
          </a:prstGeom>
          <a:solidFill>
            <a:srgbClr val="00114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9"/>
          <p:cNvSpPr txBox="1"/>
          <p:nvPr/>
        </p:nvSpPr>
        <p:spPr>
          <a:xfrm>
            <a:off x="749808" y="1993852"/>
            <a:ext cx="2743201" cy="172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Funcionalidad</a:t>
            </a:r>
            <a:endParaRPr/>
          </a:p>
        </p:txBody>
      </p:sp>
      <p:sp>
        <p:nvSpPr>
          <p:cNvPr id="676" name="Google Shape;676;p29"/>
          <p:cNvSpPr/>
          <p:nvPr/>
        </p:nvSpPr>
        <p:spPr>
          <a:xfrm>
            <a:off x="3813047" y="1828800"/>
            <a:ext cx="3840481" cy="502920"/>
          </a:xfrm>
          <a:prstGeom prst="roundRect">
            <a:avLst>
              <a:gd name="adj" fmla="val 10909"/>
            </a:avLst>
          </a:prstGeom>
          <a:solidFill>
            <a:srgbClr val="00114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9"/>
          <p:cNvSpPr txBox="1"/>
          <p:nvPr/>
        </p:nvSpPr>
        <p:spPr>
          <a:xfrm>
            <a:off x="3995928" y="1993852"/>
            <a:ext cx="3474721" cy="172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hace?</a:t>
            </a:r>
            <a:endParaRPr/>
          </a:p>
        </p:txBody>
      </p:sp>
      <p:sp>
        <p:nvSpPr>
          <p:cNvPr id="678" name="Google Shape;678;p29"/>
          <p:cNvSpPr/>
          <p:nvPr/>
        </p:nvSpPr>
        <p:spPr>
          <a:xfrm>
            <a:off x="7790688" y="1828800"/>
            <a:ext cx="3749041" cy="502920"/>
          </a:xfrm>
          <a:prstGeom prst="roundRect">
            <a:avLst>
              <a:gd name="adj" fmla="val 10909"/>
            </a:avLst>
          </a:prstGeom>
          <a:solidFill>
            <a:srgbClr val="00114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9"/>
          <p:cNvSpPr txBox="1"/>
          <p:nvPr/>
        </p:nvSpPr>
        <p:spPr>
          <a:xfrm>
            <a:off x="7973568" y="1993852"/>
            <a:ext cx="3383281" cy="172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Beneficio para el usuario</a:t>
            </a:r>
            <a:endParaRPr/>
          </a:p>
        </p:txBody>
      </p:sp>
      <p:sp>
        <p:nvSpPr>
          <p:cNvPr id="680" name="Google Shape;680;p29"/>
          <p:cNvSpPr/>
          <p:nvPr/>
        </p:nvSpPr>
        <p:spPr>
          <a:xfrm>
            <a:off x="566927" y="2468879"/>
            <a:ext cx="3108962" cy="1298449"/>
          </a:xfrm>
          <a:prstGeom prst="roundRect">
            <a:avLst>
              <a:gd name="adj" fmla="val 5634"/>
            </a:avLst>
          </a:prstGeom>
          <a:solidFill>
            <a:srgbClr val="FBE6D6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9"/>
          <p:cNvSpPr txBox="1"/>
          <p:nvPr/>
        </p:nvSpPr>
        <p:spPr>
          <a:xfrm>
            <a:off x="768095" y="3024410"/>
            <a:ext cx="2706626" cy="187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B64A3B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B64A3B"/>
                </a:solidFill>
                <a:latin typeface="Arial"/>
                <a:ea typeface="Arial"/>
                <a:cs typeface="Arial"/>
                <a:sym typeface="Arial"/>
              </a:rPr>
              <a:t>Analítica predictiva de pedidos</a:t>
            </a:r>
            <a:endParaRPr/>
          </a:p>
        </p:txBody>
      </p:sp>
      <p:sp>
        <p:nvSpPr>
          <p:cNvPr id="682" name="Google Shape;682;p29"/>
          <p:cNvSpPr/>
          <p:nvPr/>
        </p:nvSpPr>
        <p:spPr>
          <a:xfrm>
            <a:off x="3813047" y="2468879"/>
            <a:ext cx="3840481" cy="1298449"/>
          </a:xfrm>
          <a:prstGeom prst="roundRect">
            <a:avLst>
              <a:gd name="adj" fmla="val 5634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9"/>
          <p:cNvSpPr txBox="1"/>
          <p:nvPr/>
        </p:nvSpPr>
        <p:spPr>
          <a:xfrm>
            <a:off x="4014215" y="2931851"/>
            <a:ext cx="3438145" cy="372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Identifica pedidos con mayor probabilidad de devolución antes del envío.</a:t>
            </a:r>
            <a:endParaRPr/>
          </a:p>
        </p:txBody>
      </p:sp>
      <p:sp>
        <p:nvSpPr>
          <p:cNvPr id="684" name="Google Shape;684;p29"/>
          <p:cNvSpPr/>
          <p:nvPr/>
        </p:nvSpPr>
        <p:spPr>
          <a:xfrm>
            <a:off x="7790688" y="2468879"/>
            <a:ext cx="3749041" cy="1298449"/>
          </a:xfrm>
          <a:prstGeom prst="roundRect">
            <a:avLst>
              <a:gd name="adj" fmla="val 5634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9"/>
          <p:cNvSpPr txBox="1"/>
          <p:nvPr/>
        </p:nvSpPr>
        <p:spPr>
          <a:xfrm>
            <a:off x="7991856" y="2931851"/>
            <a:ext cx="3346704" cy="372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Permite actuar a tiempo y evitar costos innecesarios de despacho y devolución.</a:t>
            </a:r>
            <a:endParaRPr/>
          </a:p>
        </p:txBody>
      </p:sp>
      <p:sp>
        <p:nvSpPr>
          <p:cNvPr id="686" name="Google Shape;686;p29"/>
          <p:cNvSpPr/>
          <p:nvPr/>
        </p:nvSpPr>
        <p:spPr>
          <a:xfrm>
            <a:off x="566927" y="3877055"/>
            <a:ext cx="3108962" cy="1298449"/>
          </a:xfrm>
          <a:prstGeom prst="roundRect">
            <a:avLst>
              <a:gd name="adj" fmla="val 5634"/>
            </a:avLst>
          </a:prstGeom>
          <a:solidFill>
            <a:srgbClr val="FBE6D6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9"/>
          <p:cNvSpPr txBox="1"/>
          <p:nvPr/>
        </p:nvSpPr>
        <p:spPr>
          <a:xfrm>
            <a:off x="768095" y="4432586"/>
            <a:ext cx="2706626" cy="187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B64A3B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B64A3B"/>
                </a:solidFill>
                <a:latin typeface="Arial"/>
                <a:ea typeface="Arial"/>
                <a:cs typeface="Arial"/>
                <a:sym typeface="Arial"/>
              </a:rPr>
              <a:t>Detección de patrones de riesgo</a:t>
            </a:r>
            <a:endParaRPr/>
          </a:p>
        </p:txBody>
      </p:sp>
      <p:sp>
        <p:nvSpPr>
          <p:cNvPr id="688" name="Google Shape;688;p29"/>
          <p:cNvSpPr/>
          <p:nvPr/>
        </p:nvSpPr>
        <p:spPr>
          <a:xfrm>
            <a:off x="3813047" y="3877055"/>
            <a:ext cx="3840481" cy="1298449"/>
          </a:xfrm>
          <a:prstGeom prst="roundRect">
            <a:avLst>
              <a:gd name="adj" fmla="val 5634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9"/>
          <p:cNvSpPr txBox="1"/>
          <p:nvPr/>
        </p:nvSpPr>
        <p:spPr>
          <a:xfrm>
            <a:off x="4014215" y="4340027"/>
            <a:ext cx="3438145" cy="372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Encuentra problemas recurrentes en productos, pedidos o comportamientos de compra.</a:t>
            </a:r>
            <a:endParaRPr/>
          </a:p>
        </p:txBody>
      </p:sp>
      <p:sp>
        <p:nvSpPr>
          <p:cNvPr id="690" name="Google Shape;690;p29"/>
          <p:cNvSpPr/>
          <p:nvPr/>
        </p:nvSpPr>
        <p:spPr>
          <a:xfrm>
            <a:off x="7790688" y="3877055"/>
            <a:ext cx="3749041" cy="1298449"/>
          </a:xfrm>
          <a:prstGeom prst="roundRect">
            <a:avLst>
              <a:gd name="adj" fmla="val 5634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29"/>
          <p:cNvSpPr txBox="1"/>
          <p:nvPr/>
        </p:nvSpPr>
        <p:spPr>
          <a:xfrm>
            <a:off x="7991856" y="4340027"/>
            <a:ext cx="3346704" cy="372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Ayuda a corregir causas de fondo, como errores en tallas, fotos o descripciones.</a:t>
            </a:r>
            <a:endParaRPr/>
          </a:p>
        </p:txBody>
      </p:sp>
      <p:sp>
        <p:nvSpPr>
          <p:cNvPr id="692" name="Google Shape;692;p29"/>
          <p:cNvSpPr/>
          <p:nvPr/>
        </p:nvSpPr>
        <p:spPr>
          <a:xfrm>
            <a:off x="566927" y="5285232"/>
            <a:ext cx="3108962" cy="1298449"/>
          </a:xfrm>
          <a:prstGeom prst="roundRect">
            <a:avLst>
              <a:gd name="adj" fmla="val 5634"/>
            </a:avLst>
          </a:prstGeom>
          <a:solidFill>
            <a:srgbClr val="FBE6D6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9"/>
          <p:cNvSpPr txBox="1"/>
          <p:nvPr/>
        </p:nvSpPr>
        <p:spPr>
          <a:xfrm>
            <a:off x="768095" y="5840762"/>
            <a:ext cx="2706626" cy="187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B64A3B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B64A3B"/>
                </a:solidFill>
                <a:latin typeface="Arial"/>
                <a:ea typeface="Arial"/>
                <a:cs typeface="Arial"/>
                <a:sym typeface="Arial"/>
              </a:rPr>
              <a:t>Inteligencia operativa preventiva</a:t>
            </a:r>
            <a:endParaRPr/>
          </a:p>
        </p:txBody>
      </p:sp>
      <p:sp>
        <p:nvSpPr>
          <p:cNvPr id="694" name="Google Shape;694;p29"/>
          <p:cNvSpPr/>
          <p:nvPr/>
        </p:nvSpPr>
        <p:spPr>
          <a:xfrm>
            <a:off x="3813047" y="5285232"/>
            <a:ext cx="3840481" cy="1298449"/>
          </a:xfrm>
          <a:prstGeom prst="roundRect">
            <a:avLst>
              <a:gd name="adj" fmla="val 5634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9"/>
          <p:cNvSpPr txBox="1"/>
          <p:nvPr/>
        </p:nvSpPr>
        <p:spPr>
          <a:xfrm>
            <a:off x="4014215" y="5748203"/>
            <a:ext cx="3438145" cy="372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Convierte los datos de compra en alertas y recomendaciones para el equipo.</a:t>
            </a:r>
            <a:endParaRPr/>
          </a:p>
        </p:txBody>
      </p:sp>
      <p:sp>
        <p:nvSpPr>
          <p:cNvPr id="696" name="Google Shape;696;p29"/>
          <p:cNvSpPr/>
          <p:nvPr/>
        </p:nvSpPr>
        <p:spPr>
          <a:xfrm>
            <a:off x="7790688" y="5285232"/>
            <a:ext cx="3749041" cy="1298449"/>
          </a:xfrm>
          <a:prstGeom prst="roundRect">
            <a:avLst>
              <a:gd name="adj" fmla="val 5634"/>
            </a:avLst>
          </a:prstGeom>
          <a:solidFill>
            <a:srgbClr val="FFFDF9"/>
          </a:solidFill>
          <a:ln>
            <a:noFill/>
          </a:ln>
          <a:effectLst>
            <a:outerShdw blurRad="88900" dist="38100" dir="5400000" rotWithShape="0">
              <a:srgbClr val="000000">
                <a:alpha val="1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9"/>
          <p:cNvSpPr txBox="1"/>
          <p:nvPr/>
        </p:nvSpPr>
        <p:spPr>
          <a:xfrm>
            <a:off x="7991856" y="5748203"/>
            <a:ext cx="3346704" cy="372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53047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53047"/>
                </a:solidFill>
                <a:latin typeface="Arial"/>
                <a:ea typeface="Arial"/>
                <a:cs typeface="Arial"/>
                <a:sym typeface="Arial"/>
              </a:rPr>
              <a:t>Reduce la carga operativa y dedica menos tiempo a reclamos y más a mejorar el negocio.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"/>
          <p:cNvSpPr txBox="1"/>
          <p:nvPr/>
        </p:nvSpPr>
        <p:spPr>
          <a:xfrm>
            <a:off x="566927" y="457708"/>
            <a:ext cx="73152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6302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PROPUESTA / 02 · PRODUCT BOX</a:t>
            </a:r>
            <a:endParaRPr/>
          </a:p>
        </p:txBody>
      </p:sp>
      <p:sp>
        <p:nvSpPr>
          <p:cNvPr id="703" name="Google Shape;703;p8"/>
          <p:cNvSpPr txBox="1"/>
          <p:nvPr/>
        </p:nvSpPr>
        <p:spPr>
          <a:xfrm>
            <a:off x="6400800" y="6511035"/>
            <a:ext cx="5212080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F68"/>
              </a:buClr>
              <a:buSzPts val="700"/>
              <a:buFont typeface="Arial"/>
              <a:buNone/>
            </a:pPr>
            <a:r>
              <a:rPr lang="en-US" sz="700" b="1" i="0" u="none" strike="noStrike" cap="none">
                <a:solidFill>
                  <a:srgbClr val="756F68"/>
                </a:solidFill>
                <a:latin typeface="Arial"/>
                <a:ea typeface="Arial"/>
                <a:cs typeface="Arial"/>
                <a:sym typeface="Arial"/>
              </a:rPr>
              <a:t>DEJA DE REACCIONAR · EMPIEZA A PREVENIR</a:t>
            </a:r>
            <a:endParaRPr/>
          </a:p>
        </p:txBody>
      </p:sp>
      <p:pic>
        <p:nvPicPr>
          <p:cNvPr id="704" name="Google Shape;704;p8" descr="Google Shape;3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8" descr="Google Shape;8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1059" y="-71021"/>
            <a:ext cx="1402673" cy="1100831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8"/>
          <p:cNvSpPr/>
          <p:nvPr/>
        </p:nvSpPr>
        <p:spPr>
          <a:xfrm>
            <a:off x="5113537" y="4341181"/>
            <a:ext cx="2956266" cy="1233997"/>
          </a:xfrm>
          <a:prstGeom prst="rect">
            <a:avLst/>
          </a:prstGeom>
          <a:solidFill>
            <a:srgbClr val="F7F1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8"/>
          <p:cNvSpPr txBox="1"/>
          <p:nvPr/>
        </p:nvSpPr>
        <p:spPr>
          <a:xfrm>
            <a:off x="685390" y="1601079"/>
            <a:ext cx="5648947" cy="5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114B"/>
                </a:solidFill>
                <a:latin typeface="Arial"/>
                <a:ea typeface="Arial"/>
                <a:cs typeface="Arial"/>
                <a:sym typeface="Arial"/>
              </a:rPr>
              <a:t>Cada pedido pasa de dato bruto a acción preventiva, </a:t>
            </a:r>
            <a:r>
              <a:rPr lang="en-US" sz="1800" b="1" i="0" u="none" strike="noStrike" cap="none">
                <a:solidFill>
                  <a:srgbClr val="F26302"/>
                </a:solidFill>
                <a:latin typeface="Arial"/>
                <a:ea typeface="Arial"/>
                <a:cs typeface="Arial"/>
                <a:sym typeface="Arial"/>
              </a:rPr>
              <a:t>convierte datos en decisiones</a:t>
            </a:r>
            <a:endParaRPr/>
          </a:p>
        </p:txBody>
      </p:sp>
      <p:sp>
        <p:nvSpPr>
          <p:cNvPr id="708" name="Google Shape;708;p8"/>
          <p:cNvSpPr txBox="1"/>
          <p:nvPr/>
        </p:nvSpPr>
        <p:spPr>
          <a:xfrm>
            <a:off x="566038" y="887465"/>
            <a:ext cx="5338229" cy="639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14B"/>
              </a:buClr>
              <a:buSzPts val="2500"/>
              <a:buFont typeface="Overlock"/>
              <a:buNone/>
            </a:pPr>
            <a:r>
              <a:rPr lang="en-US" sz="2500" b="0" i="0" u="none" strike="noStrike" cap="none">
                <a:solidFill>
                  <a:srgbClr val="00114B"/>
                </a:solidFill>
                <a:latin typeface="Overlock"/>
                <a:ea typeface="Overlock"/>
                <a:cs typeface="Overlock"/>
                <a:sym typeface="Overlock"/>
              </a:rPr>
              <a:t>¿Cómo actúa PredictiFlow ?  </a:t>
            </a:r>
            <a:endParaRPr/>
          </a:p>
        </p:txBody>
      </p:sp>
      <p:pic>
        <p:nvPicPr>
          <p:cNvPr id="709" name="Google Shape;709;p8" descr="Google Shape;9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5195" y="2311165"/>
            <a:ext cx="8855051" cy="4009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2321</Words>
  <Application>Microsoft Office PowerPoint</Application>
  <PresentationFormat>Panorámica</PresentationFormat>
  <Paragraphs>465</Paragraphs>
  <Slides>28</Slides>
  <Notes>28</Notes>
  <HiddenSlides>1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Arial</vt:lpstr>
      <vt:lpstr>Overlock</vt:lpstr>
      <vt:lpstr>Play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S145R7</dc:creator>
  <cp:lastModifiedBy>Familia</cp:lastModifiedBy>
  <cp:revision>3</cp:revision>
  <dcterms:modified xsi:type="dcterms:W3CDTF">2026-10-05T06:09:16Z</dcterms:modified>
</cp:coreProperties>
</file>